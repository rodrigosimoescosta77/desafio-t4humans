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94960" y="7315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0" i="0">
                <a:solidFill>
                  <a:srgbClr val="FFFFFF"/>
                </a:solidFill>
              </a:rPr>
              <a:t>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BANCO ÁGIL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3464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B4D8"/>
                </a:solidFill>
              </a:rPr>
              <a:t>Sistema Multi-Agente de Atendimento Bancário com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611880"/>
            <a:ext cx="39593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37947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B0C4DE"/>
                </a:solidFill>
              </a:rPr>
              <a:t>Powered by LangGraph  ·  Gemini 2.5 Flash  ·  Streamlit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607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</a:rPr>
              <a:t>Rodrigo Simões Costa  ·  Desafio T4Humans  ·  Maio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O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669280" cy="320040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36576" cy="3200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36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😤  Atendimento Tradicional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20"/>
            <a:ext cx="5486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Filas longas e tempo de espera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Horário limitado (seg–sex, 9h–18h)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Atendentes sobrecarregados com tarefas repetitivas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Experiência inconsistente entre canais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5669280" cy="320040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36576" cy="3200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1536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💔  Custo &amp; Escala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20"/>
            <a:ext cx="5486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Alto custo operacional de call centers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Dificuldade de escalar em picos de demanda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Erros humanos em processos padronizados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Dados de atendimento pouco estruturados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</a:rPr>
              <a:t>💡  Oportunidade: IA conversacional especializada que atende 24h, é escalável e tem custo marginal próximo a zero.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A Solução — Banco 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4DE"/>
                </a:solidFill>
              </a:rPr>
              <a:t>Um assistente virtual bancário completo, com múltiplos agentes de IA especializados, operando como um único atendente coeso para o cliente.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🔐  Autenticação Segura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B0C4DE"/>
                </a:solidFill>
              </a:rPr>
              <a:t>CPF + data de </a:t>
            </a:r>
            <a:r>
              <a:rPr sz="1200" b="0" i="0" dirty="0" err="1">
                <a:solidFill>
                  <a:srgbClr val="B0C4DE"/>
                </a:solidFill>
              </a:rPr>
              <a:t>nascimento</a:t>
            </a:r>
            <a:r>
              <a:rPr sz="1200" b="0" i="0" dirty="0">
                <a:solidFill>
                  <a:srgbClr val="B0C4DE"/>
                </a:solidFill>
              </a:rPr>
              <a:t>
</a:t>
            </a:r>
            <a:r>
              <a:rPr sz="1200" b="0" i="0" dirty="0" err="1">
                <a:solidFill>
                  <a:srgbClr val="B0C4DE"/>
                </a:solidFill>
              </a:rPr>
              <a:t>Validação</a:t>
            </a:r>
            <a:r>
              <a:rPr sz="1200" b="0" i="0" dirty="0">
                <a:solidFill>
                  <a:srgbClr val="B0C4DE"/>
                </a:solidFill>
              </a:rPr>
              <a:t> </a:t>
            </a:r>
            <a:r>
              <a:rPr sz="1200" b="0" i="0" dirty="0" err="1">
                <a:solidFill>
                  <a:srgbClr val="B0C4DE"/>
                </a:solidFill>
              </a:rPr>
              <a:t>matemática</a:t>
            </a:r>
            <a:r>
              <a:rPr sz="1200" b="0" i="0" dirty="0">
                <a:solidFill>
                  <a:srgbClr val="B0C4DE"/>
                </a:solidFill>
              </a:rPr>
              <a:t> de CPF
</a:t>
            </a:r>
            <a:r>
              <a:rPr sz="1200" b="0" i="0" dirty="0" err="1">
                <a:solidFill>
                  <a:srgbClr val="B0C4DE"/>
                </a:solidFill>
              </a:rPr>
              <a:t>Até</a:t>
            </a:r>
            <a:r>
              <a:rPr sz="1200" b="0" i="0" dirty="0">
                <a:solidFill>
                  <a:srgbClr val="B0C4DE"/>
                </a:solidFill>
              </a:rPr>
              <a:t> 3 </a:t>
            </a:r>
            <a:r>
              <a:rPr sz="1200" b="0" i="0" dirty="0" err="1">
                <a:solidFill>
                  <a:srgbClr val="B0C4DE"/>
                </a:solidFill>
              </a:rPr>
              <a:t>tentativas</a:t>
            </a:r>
            <a:r>
              <a:rPr sz="1200" b="0" i="0" dirty="0">
                <a:solidFill>
                  <a:srgbClr val="B0C4DE"/>
                </a:solidFill>
              </a:rPr>
              <a:t> com </a:t>
            </a:r>
            <a:r>
              <a:rPr sz="1200" b="0" i="0" dirty="0" err="1">
                <a:solidFill>
                  <a:srgbClr val="B0C4DE"/>
                </a:solidFill>
              </a:rPr>
              <a:t>controle</a:t>
            </a:r>
            <a:r>
              <a:rPr sz="1200" b="0" i="0" dirty="0">
                <a:solidFill>
                  <a:srgbClr val="B0C4DE"/>
                </a:solidFill>
              </a:rPr>
              <a:t> </a:t>
            </a:r>
            <a:r>
              <a:rPr sz="1200" b="0" i="0" dirty="0" err="1">
                <a:solidFill>
                  <a:srgbClr val="B0C4DE"/>
                </a:solidFill>
              </a:rPr>
              <a:t>automático</a:t>
            </a:r>
            <a:endParaRPr sz="1200" b="0" i="0" dirty="0">
              <a:solidFill>
                <a:srgbClr val="B0C4DE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309360" y="224028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224028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💳  Gestão de Crédito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7432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Consulta de limite em tempo real
Aumento automático baseado em score
Registro histórico persistente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4340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34340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📋  Entrevista Financeira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4632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Recálculo de score por IA
Perguntas conversacionais (1 por vez)
Atualização automática no perfil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34340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434340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💱  Câmbio em Tempo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84632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API externa sem autenticação
USD, EUR, GBP, ARS e mais
Nunca inventa valores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Arquitetura do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5"/>
          <p:cNvSpPr txBox="1"/>
          <p:nvPr/>
        </p:nvSpPr>
        <p:spPr>
          <a:xfrm>
            <a:off x="162233" y="1417320"/>
            <a:ext cx="631854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500" b="1" dirty="0">
                <a:solidFill>
                  <a:srgbClr val="B0C4DE"/>
                </a:solidFill>
              </a:rPr>
              <a:t>Visão </a:t>
            </a:r>
            <a:r>
              <a:rPr lang="pt-BR" sz="1500" b="1" dirty="0" smtClean="0">
                <a:solidFill>
                  <a:srgbClr val="B0C4DE"/>
                </a:solidFill>
              </a:rPr>
              <a:t>Geral </a:t>
            </a:r>
            <a:r>
              <a:rPr lang="pt-BR" sz="1500" b="1" dirty="0">
                <a:solidFill>
                  <a:srgbClr val="B0C4DE"/>
                </a:solidFill>
              </a:rPr>
              <a:t>do G</a:t>
            </a:r>
            <a:r>
              <a:rPr lang="pt-BR" sz="1500" b="1" dirty="0" smtClean="0">
                <a:solidFill>
                  <a:srgbClr val="B0C4DE"/>
                </a:solidFill>
              </a:rPr>
              <a:t>rafo</a:t>
            </a:r>
          </a:p>
          <a:p>
            <a:endParaRPr lang="pt-BR" sz="1500" b="1" dirty="0">
              <a:solidFill>
                <a:srgbClr val="B0C4DE"/>
              </a:solidFill>
            </a:endParaRPr>
          </a:p>
          <a:p>
            <a:r>
              <a:rPr lang="pt-BR" sz="1500" dirty="0">
                <a:solidFill>
                  <a:srgbClr val="B0C4DE"/>
                </a:solidFill>
              </a:rPr>
              <a:t>O grafo </a:t>
            </a:r>
            <a:r>
              <a:rPr lang="pt-BR" sz="1500" dirty="0" err="1">
                <a:solidFill>
                  <a:srgbClr val="B0C4DE"/>
                </a:solidFill>
              </a:rPr>
              <a:t>LangGraph</a:t>
            </a:r>
            <a:r>
              <a:rPr lang="pt-BR" sz="1500" dirty="0">
                <a:solidFill>
                  <a:srgbClr val="B0C4DE"/>
                </a:solidFill>
              </a:rPr>
              <a:t> utiliza entrada condicional via START: a cada invocação, o roteador verifica o campo </a:t>
            </a:r>
            <a:r>
              <a:rPr lang="pt-BR" sz="1500" dirty="0" err="1">
                <a:solidFill>
                  <a:srgbClr val="B0C4DE"/>
                </a:solidFill>
              </a:rPr>
              <a:t>agente_atual</a:t>
            </a:r>
            <a:r>
              <a:rPr lang="pt-BR" sz="1500" dirty="0">
                <a:solidFill>
                  <a:srgbClr val="B0C4DE"/>
                </a:solidFill>
              </a:rPr>
              <a:t> do estado e direciona para o nó correto (</a:t>
            </a:r>
            <a:r>
              <a:rPr lang="pt-BR" sz="1500" dirty="0" smtClean="0">
                <a:solidFill>
                  <a:srgbClr val="B0C4DE"/>
                </a:solidFill>
              </a:rPr>
              <a:t>sem </a:t>
            </a:r>
            <a:r>
              <a:rPr lang="pt-BR" sz="1500" dirty="0">
                <a:solidFill>
                  <a:srgbClr val="B0C4DE"/>
                </a:solidFill>
              </a:rPr>
              <a:t>passar pela triagem em toda </a:t>
            </a:r>
            <a:r>
              <a:rPr lang="pt-BR" sz="1500" dirty="0" smtClean="0">
                <a:solidFill>
                  <a:srgbClr val="B0C4DE"/>
                </a:solidFill>
              </a:rPr>
              <a:t>mensagem)</a:t>
            </a:r>
            <a:endParaRPr sz="1500" b="0" i="0" dirty="0">
              <a:solidFill>
                <a:srgbClr val="B0C4DE"/>
              </a:solidFill>
            </a:endParaRPr>
          </a:p>
        </p:txBody>
      </p:sp>
      <p:pic>
        <p:nvPicPr>
          <p:cNvPr id="36" name="Imagem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47" y="2924388"/>
            <a:ext cx="6032095" cy="3446911"/>
          </a:xfrm>
          <a:prstGeom prst="rect">
            <a:avLst/>
          </a:prstGeom>
        </p:spPr>
      </p:pic>
      <p:pic>
        <p:nvPicPr>
          <p:cNvPr id="37" name="Imagem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265" y="1814489"/>
            <a:ext cx="5337057" cy="4933675"/>
          </a:xfrm>
          <a:prstGeom prst="rect">
            <a:avLst/>
          </a:prstGeom>
        </p:spPr>
      </p:pic>
      <p:sp>
        <p:nvSpPr>
          <p:cNvPr id="38" name="TextBox 5"/>
          <p:cNvSpPr txBox="1"/>
          <p:nvPr/>
        </p:nvSpPr>
        <p:spPr>
          <a:xfrm>
            <a:off x="6636774" y="1390093"/>
            <a:ext cx="510294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500" b="1" dirty="0" smtClean="0">
                <a:solidFill>
                  <a:srgbClr val="B0C4DE"/>
                </a:solidFill>
              </a:rPr>
              <a:t>Estrutura dos Arquivos</a:t>
            </a:r>
            <a:endParaRPr sz="1500" b="0" i="0" dirty="0">
              <a:solidFill>
                <a:srgbClr val="B0C4D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Os 4 Agentes Especializados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45720" cy="2377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🔐  Triagem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Porta de entrada obrigatória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Valida CPF matematicamente (algoritmo oficial)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Autentica: CPF + data de nascimento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Máximo 3 tentativas de CPF inválido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Máximo 3 tentativas de autenticação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Roteia para o agente correto após autenticação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1928" y="15087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81928" y="1508760"/>
            <a:ext cx="45720" cy="237744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600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7B6"/>
                </a:solidFill>
              </a:rPr>
              <a:t>💳  Crédito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011680"/>
            <a:ext cx="5394960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Consulta</a:t>
            </a:r>
            <a:r>
              <a:rPr sz="1100" dirty="0">
                <a:solidFill>
                  <a:srgbClr val="B0C4DE"/>
                </a:solidFill>
              </a:rPr>
              <a:t> o </a:t>
            </a:r>
            <a:r>
              <a:rPr sz="1100" dirty="0" err="1">
                <a:solidFill>
                  <a:srgbClr val="B0C4DE"/>
                </a:solidFill>
              </a:rPr>
              <a:t>limite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atual</a:t>
            </a:r>
            <a:r>
              <a:rPr sz="1100" dirty="0">
                <a:solidFill>
                  <a:srgbClr val="B0C4DE"/>
                </a:solidFill>
              </a:rPr>
              <a:t> do </a:t>
            </a:r>
            <a:r>
              <a:rPr sz="1100" dirty="0" err="1">
                <a:solidFill>
                  <a:srgbClr val="B0C4DE"/>
                </a:solidFill>
              </a:rPr>
              <a:t>cliente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Solicita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aumento</a:t>
            </a:r>
            <a:r>
              <a:rPr sz="1100" dirty="0">
                <a:solidFill>
                  <a:srgbClr val="B0C4DE"/>
                </a:solidFill>
              </a:rPr>
              <a:t> com </a:t>
            </a:r>
            <a:r>
              <a:rPr sz="1100" dirty="0" err="1">
                <a:solidFill>
                  <a:srgbClr val="B0C4DE"/>
                </a:solidFill>
              </a:rPr>
              <a:t>decisão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automática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por</a:t>
            </a:r>
            <a:r>
              <a:rPr sz="1100" dirty="0">
                <a:solidFill>
                  <a:srgbClr val="B0C4DE"/>
                </a:solidFill>
              </a:rPr>
              <a:t> score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Score </a:t>
            </a:r>
            <a:r>
              <a:rPr sz="1100" dirty="0" err="1">
                <a:solidFill>
                  <a:srgbClr val="B0C4DE"/>
                </a:solidFill>
              </a:rPr>
              <a:t>insuficiente</a:t>
            </a:r>
            <a:r>
              <a:rPr sz="1100" dirty="0">
                <a:solidFill>
                  <a:srgbClr val="B0C4DE"/>
                </a:solidFill>
              </a:rPr>
              <a:t> → </a:t>
            </a:r>
            <a:r>
              <a:rPr sz="1100" dirty="0" err="1">
                <a:solidFill>
                  <a:srgbClr val="B0C4DE"/>
                </a:solidFill>
              </a:rPr>
              <a:t>oferece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entrevista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financeira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Registra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histórico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em</a:t>
            </a:r>
            <a:r>
              <a:rPr sz="1100" dirty="0">
                <a:solidFill>
                  <a:srgbClr val="B0C4DE"/>
                </a:solidFill>
              </a:rPr>
              <a:t> CSV com timestamp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Lógica</a:t>
            </a:r>
            <a:r>
              <a:rPr sz="1100" dirty="0">
                <a:solidFill>
                  <a:srgbClr val="B0C4DE"/>
                </a:solidFill>
              </a:rPr>
              <a:t> de </a:t>
            </a:r>
            <a:r>
              <a:rPr sz="1100" dirty="0" err="1">
                <a:solidFill>
                  <a:srgbClr val="B0C4DE"/>
                </a:solidFill>
              </a:rPr>
              <a:t>aprovação</a:t>
            </a:r>
            <a:r>
              <a:rPr sz="1100" dirty="0">
                <a:solidFill>
                  <a:srgbClr val="B0C4DE"/>
                </a:solidFill>
              </a:rPr>
              <a:t> 100% </a:t>
            </a:r>
            <a:r>
              <a:rPr sz="1100" dirty="0" err="1">
                <a:solidFill>
                  <a:srgbClr val="B0C4DE"/>
                </a:solidFill>
              </a:rPr>
              <a:t>em</a:t>
            </a:r>
            <a:r>
              <a:rPr sz="1100">
                <a:solidFill>
                  <a:srgbClr val="B0C4DE"/>
                </a:solidFill>
              </a:rPr>
              <a:t> </a:t>
            </a:r>
            <a:r>
              <a:rPr sz="1100" smtClean="0">
                <a:solidFill>
                  <a:srgbClr val="B0C4DE"/>
                </a:solidFill>
              </a:rPr>
              <a:t>Python</a:t>
            </a:r>
            <a:endParaRPr sz="1100" dirty="0">
              <a:solidFill>
                <a:srgbClr val="B0C4DE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40233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4023360"/>
            <a:ext cx="45720" cy="237744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1148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</a:rPr>
              <a:t>📋  Entrevista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8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Entrevista conversacional (1 pergunta por vez)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Coleta: renda, emprego, despesas, dependentes, dívidas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Fórmula proprietária de score (0 a 1000)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Atualiza score no CSV automaticamente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Redireciona ao Agente de Crédito ao concluir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1928" y="40233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81928" y="4023360"/>
            <a:ext cx="45720" cy="23774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41148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C00"/>
                </a:solidFill>
              </a:rPr>
              <a:t>💱  Câmbio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526280"/>
            <a:ext cx="5394960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Detecta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menção</a:t>
            </a:r>
            <a:r>
              <a:rPr sz="1100" dirty="0">
                <a:solidFill>
                  <a:srgbClr val="B0C4DE"/>
                </a:solidFill>
              </a:rPr>
              <a:t> de </a:t>
            </a:r>
            <a:r>
              <a:rPr sz="1100" dirty="0" err="1">
                <a:solidFill>
                  <a:srgbClr val="B0C4DE"/>
                </a:solidFill>
              </a:rPr>
              <a:t>qualquer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moeda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na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conversa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Consulta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AwesomeAPI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em</a:t>
            </a:r>
            <a:r>
              <a:rPr sz="1100" dirty="0">
                <a:solidFill>
                  <a:srgbClr val="B0C4DE"/>
                </a:solidFill>
              </a:rPr>
              <a:t> tempo real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Exibe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lang="pt-BR" sz="1100" dirty="0" smtClean="0">
                <a:solidFill>
                  <a:srgbClr val="B0C4DE"/>
                </a:solidFill>
              </a:rPr>
              <a:t>valores de </a:t>
            </a:r>
            <a:r>
              <a:rPr sz="1100" dirty="0" err="1" smtClean="0">
                <a:solidFill>
                  <a:srgbClr val="B0C4DE"/>
                </a:solidFill>
              </a:rPr>
              <a:t>compra</a:t>
            </a:r>
            <a:r>
              <a:rPr lang="pt-BR" sz="1100" dirty="0" smtClean="0">
                <a:solidFill>
                  <a:srgbClr val="B0C4DE"/>
                </a:solidFill>
              </a:rPr>
              <a:t> e</a:t>
            </a:r>
            <a:r>
              <a:rPr sz="1100" dirty="0" smtClean="0">
                <a:solidFill>
                  <a:srgbClr val="B0C4DE"/>
                </a:solidFill>
              </a:rPr>
              <a:t> </a:t>
            </a:r>
            <a:r>
              <a:rPr sz="1100" smtClean="0">
                <a:solidFill>
                  <a:srgbClr val="B0C4DE"/>
                </a:solidFill>
              </a:rPr>
              <a:t>venda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Nunca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inventa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ou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estima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valores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Disponível</a:t>
            </a:r>
            <a:r>
              <a:rPr sz="1100" dirty="0">
                <a:solidFill>
                  <a:srgbClr val="B0C4DE"/>
                </a:solidFill>
              </a:rPr>
              <a:t> de </a:t>
            </a:r>
            <a:r>
              <a:rPr sz="1100" dirty="0" err="1">
                <a:solidFill>
                  <a:srgbClr val="B0C4DE"/>
                </a:solidFill>
              </a:rPr>
              <a:t>qualquer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agente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após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autenticação</a:t>
            </a:r>
            <a:endParaRPr sz="1100" dirty="0">
              <a:solidFill>
                <a:srgbClr val="B0C4D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Stack Tecnológica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74903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4D8"/>
                </a:solidFill>
              </a:rPr>
              <a:t>Framework de Agentes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4DE"/>
                </a:solidFill>
              </a:rPr>
              <a:t>Grafo de estados com controle explícito de fluxo.
Roteamento condicional, nós independentes por agente.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508760"/>
            <a:ext cx="3749039" cy="54864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Gemini 2.5 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77B6"/>
                </a:solidFill>
              </a:rPr>
              <a:t>LLM (Google AI Studio)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050" dirty="0">
                <a:solidFill>
                  <a:srgbClr val="B0C4DE"/>
                </a:solidFill>
              </a:rPr>
              <a:t>S</a:t>
            </a:r>
            <a:r>
              <a:rPr sz="1050" b="0" i="0" dirty="0" err="1" smtClean="0">
                <a:solidFill>
                  <a:srgbClr val="B0C4DE"/>
                </a:solidFill>
              </a:rPr>
              <a:t>uporta</a:t>
            </a:r>
            <a:r>
              <a:rPr sz="1050" b="0" i="0" dirty="0" smtClean="0">
                <a:solidFill>
                  <a:srgbClr val="B0C4DE"/>
                </a:solidFill>
              </a:rPr>
              <a:t> </a:t>
            </a:r>
            <a:r>
              <a:rPr sz="1050" b="0" i="0" dirty="0">
                <a:solidFill>
                  <a:srgbClr val="B0C4DE"/>
                </a:solidFill>
              </a:rPr>
              <a:t>tool calling, thinking mode </a:t>
            </a:r>
            <a:r>
              <a:rPr sz="1050" b="0" i="0" dirty="0" err="1">
                <a:solidFill>
                  <a:srgbClr val="B0C4DE"/>
                </a:solidFill>
              </a:rPr>
              <a:t>desabilitável</a:t>
            </a:r>
            <a:r>
              <a:rPr sz="1050" b="0" i="0" dirty="0">
                <a:solidFill>
                  <a:srgbClr val="B0C4DE"/>
                </a:solidFill>
              </a:rPr>
              <a:t>.
</a:t>
            </a:r>
            <a:r>
              <a:rPr sz="1050" b="0" i="0" dirty="0" err="1">
                <a:solidFill>
                  <a:srgbClr val="B0C4DE"/>
                </a:solidFill>
              </a:rPr>
              <a:t>Temperatura</a:t>
            </a:r>
            <a:r>
              <a:rPr sz="1050" b="0" i="0" dirty="0">
                <a:solidFill>
                  <a:srgbClr val="B0C4DE"/>
                </a:solidFill>
              </a:rPr>
              <a:t> 1.0, </a:t>
            </a:r>
            <a:r>
              <a:rPr sz="1050" b="0" i="0" dirty="0" err="1">
                <a:solidFill>
                  <a:srgbClr val="B0C4DE"/>
                </a:solidFill>
              </a:rPr>
              <a:t>thinking_budget</a:t>
            </a:r>
            <a:r>
              <a:rPr sz="1050" b="0" i="0" dirty="0">
                <a:solidFill>
                  <a:srgbClr val="B0C4DE"/>
                </a:solidFill>
              </a:rPr>
              <a:t>=0.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508760"/>
            <a:ext cx="3749039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D48A"/>
                </a:solidFill>
              </a:rPr>
              <a:t>Abstração de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331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4DE"/>
                </a:solidFill>
              </a:rPr>
              <a:t>@tool decorator para cada ferramenta bancária.
ToolNode para execução no grafo.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3749039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Streamlit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8C00"/>
                </a:solidFill>
              </a:rPr>
              <a:t>Interface Web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34747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 err="1">
                <a:solidFill>
                  <a:srgbClr val="B0C4DE"/>
                </a:solidFill>
              </a:rPr>
              <a:t>Tema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bancário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escuro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customizado</a:t>
            </a:r>
            <a:r>
              <a:rPr sz="1050" b="0" i="0" dirty="0">
                <a:solidFill>
                  <a:srgbClr val="B0C4DE"/>
                </a:solidFill>
              </a:rPr>
              <a:t> com CSS</a:t>
            </a:r>
            <a:r>
              <a:rPr sz="1050" b="0" i="0" dirty="0" smtClean="0">
                <a:solidFill>
                  <a:srgbClr val="B0C4DE"/>
                </a:solidFill>
              </a:rPr>
              <a:t>.</a:t>
            </a:r>
            <a:endParaRPr sz="1050" b="0" i="0" dirty="0">
              <a:solidFill>
                <a:srgbClr val="B0C4DE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8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97680" y="3794760"/>
            <a:ext cx="3749039" cy="54864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AwesomeAPI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77DFF"/>
                </a:solidFill>
              </a:rPr>
              <a:t>API de Câmbio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4DE"/>
                </a:solidFill>
              </a:rPr>
              <a:t>Gratuita, sem autenticação, cobertura ampla de moedas.
Retorno em tempo real com compra, venda e variação.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29600" y="3794760"/>
            <a:ext cx="3749039" cy="54864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CSV / Python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4DE"/>
                </a:solidFill>
              </a:rPr>
              <a:t>Persistência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617720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 err="1" smtClean="0">
                <a:solidFill>
                  <a:srgbClr val="B0C4DE"/>
                </a:solidFill>
              </a:rPr>
              <a:t>Leitura</a:t>
            </a:r>
            <a:r>
              <a:rPr sz="1050" b="0" i="0" dirty="0" smtClean="0">
                <a:solidFill>
                  <a:srgbClr val="B0C4DE"/>
                </a:solidFill>
              </a:rPr>
              <a:t>/</a:t>
            </a:r>
            <a:r>
              <a:rPr sz="1050" b="0" i="0" dirty="0" err="1" smtClean="0">
                <a:solidFill>
                  <a:srgbClr val="B0C4DE"/>
                </a:solidFill>
              </a:rPr>
              <a:t>gravação</a:t>
            </a:r>
            <a:r>
              <a:rPr sz="1050" b="0" i="0" dirty="0" smtClean="0">
                <a:solidFill>
                  <a:srgbClr val="B0C4DE"/>
                </a:solidFill>
              </a:rPr>
              <a:t> </a:t>
            </a:r>
            <a:r>
              <a:rPr sz="1050" b="0" i="0" dirty="0">
                <a:solidFill>
                  <a:srgbClr val="B0C4DE"/>
                </a:solidFill>
              </a:rPr>
              <a:t>com </a:t>
            </a:r>
            <a:r>
              <a:rPr sz="1050" b="0" i="0" dirty="0" err="1">
                <a:solidFill>
                  <a:srgbClr val="B0C4DE"/>
                </a:solidFill>
              </a:rPr>
              <a:t>csv.DictReader</a:t>
            </a:r>
            <a:r>
              <a:rPr sz="1050" b="0" i="0" dirty="0">
                <a:solidFill>
                  <a:srgbClr val="B0C4DE"/>
                </a:solidFill>
              </a:rPr>
              <a:t>.
</a:t>
            </a:r>
            <a:r>
              <a:rPr sz="1050" b="0" i="0" dirty="0" err="1">
                <a:solidFill>
                  <a:srgbClr val="B0C4DE"/>
                </a:solidFill>
              </a:rPr>
              <a:t>Clientes</a:t>
            </a:r>
            <a:r>
              <a:rPr sz="1050" b="0" i="0" dirty="0">
                <a:solidFill>
                  <a:srgbClr val="B0C4DE"/>
                </a:solidFill>
              </a:rPr>
              <a:t>, score-</a:t>
            </a:r>
            <a:r>
              <a:rPr sz="1050" b="0" i="0" dirty="0" err="1">
                <a:solidFill>
                  <a:srgbClr val="B0C4DE"/>
                </a:solidFill>
              </a:rPr>
              <a:t>limite</a:t>
            </a:r>
            <a:r>
              <a:rPr sz="1050" b="0" i="0" dirty="0">
                <a:solidFill>
                  <a:srgbClr val="B0C4DE"/>
                </a:solidFill>
              </a:rPr>
              <a:t> e </a:t>
            </a:r>
            <a:r>
              <a:rPr sz="1050" b="0" i="0" dirty="0" err="1">
                <a:solidFill>
                  <a:srgbClr val="B0C4DE"/>
                </a:solidFill>
              </a:rPr>
              <a:t>histórico</a:t>
            </a:r>
            <a:r>
              <a:rPr sz="1050" b="0" i="0" dirty="0">
                <a:solidFill>
                  <a:srgbClr val="B0C4DE"/>
                </a:solidFill>
              </a:rPr>
              <a:t> de </a:t>
            </a:r>
            <a:r>
              <a:rPr sz="1050" b="0" i="0" dirty="0" err="1">
                <a:solidFill>
                  <a:srgbClr val="B0C4DE"/>
                </a:solidFill>
              </a:rPr>
              <a:t>solicitações</a:t>
            </a:r>
            <a:r>
              <a:rPr sz="1050" b="0" i="0" dirty="0">
                <a:solidFill>
                  <a:srgbClr val="B0C4DE"/>
                </a:solidFill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Fluxo de Atendimento — Autenticação &amp; Crédito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7280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Saudação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Assistente
cumprimenta
profissionalmente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3317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26079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Solicita CPF
e chama
validar_cpf()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60520" y="1828800"/>
            <a:ext cx="1554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754879" y="1508760"/>
            <a:ext cx="365760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336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Validação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36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CPF inválido?
Informa e
pede novamente
(máx. 3x)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9893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79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24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Nascimento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624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CPF válido?
Solicita data
DD/MM/AAAA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818120" y="1828800"/>
            <a:ext cx="1554480" cy="4572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412480" y="1508760"/>
            <a:ext cx="365760" cy="36576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124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12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Autenticação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912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Chama
autenticar_cliente()
contra 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69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646920" y="1828800"/>
            <a:ext cx="155448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0241280" y="1508760"/>
            <a:ext cx="365760" cy="36576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2412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00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Serviço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200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Autenticado!
Pergunta como
pode ajudar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3931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B4D8"/>
                </a:solidFill>
              </a:rPr>
              <a:t>Fluxo de Crédito (após autenticação):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02920" y="4297680"/>
            <a:ext cx="2103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36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Consulta Limite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Chama consultar_limite_credito(cpf)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0603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9748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697480" y="4297680"/>
            <a:ext cx="2103120" cy="36576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78892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7B6"/>
                </a:solidFill>
              </a:rPr>
              <a:t>Solicita Aumento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8892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Cliente informa valor desejado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0600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9204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892040" y="4297680"/>
            <a:ext cx="2103120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983479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</a:rPr>
              <a:t>Decisão Auto.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79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Python verifica score × tabela CSV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5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86599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86599" y="4297680"/>
            <a:ext cx="21031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178039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8A"/>
                </a:solidFill>
              </a:rPr>
              <a:t>Aprovado 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39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Novo limite atualizado no CSV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8971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28116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9281160" y="4297680"/>
            <a:ext cx="2103120" cy="36576"/>
          </a:xfrm>
          <a:prstGeom prst="rect">
            <a:avLst/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5555"/>
                </a:solidFill>
              </a:rPr>
              <a:t>Rejeitado 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7260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Oferece Entrevista de Crédito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Funcionalidades Entregues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Validação matemática de CPF (dígitos verificadores)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Autenticação CPF + data de nascimento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Controle de tentativas: 3 CPFs inválidos e 3 falhas de auth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Encerramento automático por excesso de tentativas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Consulta de limite de crédito em tempo real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Aprovação/rejeição automática por score (Python)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Registro histórico de solicitações com timestamp ISO 8601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Entrevista financeira conversacional (1 pergunta por vez)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Fórmula própria de score com 5 variáveis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Atualização automática de score no CSV após entrevista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Redirecionamento automático crédito → entrevista → crédito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Botões Sim/Não na UI para aceite da entrevista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Cotação de câmbio em tempo real (USD, EUR, GBP, ARS…)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Transição transparente entre agentes (1 assistente ao cliente)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System prompt dinâmico com contexto do cliente autenticado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Interface Streamlit com design bancário moderno (tema escuro)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Sidebar com score, limite e agente ativo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✅  Logging centralizado com alertas Slack / e-mail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08760"/>
            <a:ext cx="36576" cy="502920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Decisões Técnicas &amp; Desafios Superados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56362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LLM recusava chamadas financeiras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92807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Gemini 2.5 Flash recusa tool calls em operações financeiras por treinamento de segurança.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5000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Python executa a ferramenta diretamente; LLM formata apenas a resposta ao cliente.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1928" y="1508760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81928" y="1508760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56362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Roteamento dinâmico no grafo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892807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LangGraph sempre reiniciava no nó de triagem, tornando os demais agentes inacessíveis.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35000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Substituir set_entry_point por add_conditional_edges(START, router_principal) com campo agente_atual.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27832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227832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28269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Falso positivo na intenção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A frase "entrevista de crédito" ativava keyword 'crédito' antes de 'entrevista'.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690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Quando no agente de crédito, checar keywords de entrevista diretamente, sem o detector geral.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1928" y="3227832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81928" y="3227832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28269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$ interpretado como LaTeX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61187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Streamlit interpreta $valor$ como fórmula matemática. Valores em R$ quebravam a renderização.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0690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Escapar o símbolo antes de injetar no HTML: replace('$', '&amp;#36;').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946904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4946904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50017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Validação real de CPF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309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O sistema aceitava qualquer número com 11 dígitos, inclusive sequências inválidas.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8815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Implementação do algoritmo oficial dos dígitos verificadores + rejeição de sequências repetidas.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81928" y="4946904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81928" y="4946904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19088" y="50017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Aceitação de entrevista ambígua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53309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Respostas afirmativas livres ("pode ser", "tenho interesse") não eram reconhecidas.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578815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Campo entrevista_ofertada no estado + botões Sim/Não na UI para eliminar ambiguidade.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2743200"/>
            <a:ext cx="12188952" cy="13716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🏦  BANCO ÁGIL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B4D8"/>
                </a:solidFill>
              </a:rPr>
              <a:t>Atendimento bancário inteligente, disponível 24h, escalável e seguro.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Obrigado!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4D8"/>
                </a:solidFill>
              </a:rPr>
              <a:t>Rodrigo Simões Costa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0C4DE"/>
                </a:solidFill>
              </a:rPr>
              <a:t>rodrigo.costa-ext@dex.co  ·  Desafio T4Humans  ·  Maio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5349240"/>
            <a:ext cx="267919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B0C4DE"/>
                </a:solidFill>
              </a:rPr>
              <a:t>github.com/rodrigosimoescosta77/desafio-t4humans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956</Words>
  <Application>Microsoft Office PowerPoint</Application>
  <PresentationFormat>Personalizar</PresentationFormat>
  <Paragraphs>160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renata pelinca</cp:lastModifiedBy>
  <cp:revision>11</cp:revision>
  <dcterms:created xsi:type="dcterms:W3CDTF">2013-01-27T09:14:16Z</dcterms:created>
  <dcterms:modified xsi:type="dcterms:W3CDTF">2026-05-26T11:21:58Z</dcterms:modified>
  <cp:category/>
</cp:coreProperties>
</file>