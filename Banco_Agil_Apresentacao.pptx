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834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88952" cy="182880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394960" y="731520"/>
            <a:ext cx="137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0" i="0">
                <a:solidFill>
                  <a:srgbClr val="FFFFFF"/>
                </a:solidFill>
              </a:rPr>
              <a:t>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10360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</a:rPr>
              <a:t>BANCO ÁGIL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834640"/>
            <a:ext cx="94457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00B4D8"/>
                </a:solidFill>
              </a:rPr>
              <a:t>Sistema Multi-Agente de Atendimento Bancário com IA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3611880"/>
            <a:ext cx="395935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71600" y="379476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B0C4DE"/>
                </a:solidFill>
              </a:rPr>
              <a:t>Powered by LangGraph  ·  Gemini 2.5 Flash  ·  Streamlit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76072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4DE"/>
                </a:solidFill>
              </a:rPr>
              <a:t>Rodrigo Simões Costa  ·  Desafio T4Humans  ·  Maio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B4D8"/>
                </a:solidFill>
              </a:rPr>
              <a:t>O Problema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47120" cy="27432"/>
          </a:xfrm>
          <a:prstGeom prst="rect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5669280" cy="320040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36576" cy="3200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53619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</a:rPr>
              <a:t>😤  Atendimento Tradicional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874520"/>
            <a:ext cx="54864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B0C4DE"/>
                </a:solidFill>
              </a:rPr>
              <a:t>• Filas longas e tempo de espera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B0C4DE"/>
                </a:solidFill>
              </a:rPr>
              <a:t>• Horário limitado (seg–sex, 9h–18h)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B0C4DE"/>
                </a:solidFill>
              </a:rPr>
              <a:t>• Atendentes sobrecarregados com tarefas repetitivas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B0C4DE"/>
                </a:solidFill>
              </a:rPr>
              <a:t>• Experiência inconsistente entre canais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463040"/>
            <a:ext cx="5669280" cy="320040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0" y="1463040"/>
            <a:ext cx="36576" cy="3200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0528" y="153619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</a:rPr>
              <a:t>💔  Custo &amp; Escala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0528" y="1874520"/>
            <a:ext cx="54864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B0C4DE"/>
                </a:solidFill>
              </a:rPr>
              <a:t>• Alto custo operacional de call centers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B0C4DE"/>
                </a:solidFill>
              </a:rPr>
              <a:t>• Dificuldade de escalar em picos de demanda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B0C4DE"/>
                </a:solidFill>
              </a:rPr>
              <a:t>• Erros humanos em processos padronizados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B0C4DE"/>
                </a:solidFill>
              </a:rPr>
              <a:t>• Dados de atendimento pouco estruturados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89204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D48A"/>
                </a:solidFill>
              </a:rPr>
              <a:t>💡  Oportunidade: IA conversacional especializada que atende 24h, é escalável e tem custo marginal próximo a zero.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B4D8"/>
                </a:solidFill>
              </a:rPr>
              <a:t>A Solução — Banco Ágil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47120" cy="27432"/>
          </a:xfrm>
          <a:prstGeom prst="rect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0C4DE"/>
                </a:solidFill>
              </a:rPr>
              <a:t>Um assistente virtual bancário completo, com múltiplos agentes de IA especializados, operando como um único atendente coeso para o cliente.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40280"/>
            <a:ext cx="5577840" cy="192024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2240280"/>
            <a:ext cx="36576" cy="19202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33172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</a:rPr>
              <a:t>🔐  Autenticação Segura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43200"/>
            <a:ext cx="5303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B0C4DE"/>
                </a:solidFill>
              </a:rPr>
              <a:t>CPF + data de </a:t>
            </a:r>
            <a:r>
              <a:rPr sz="1200" b="0" i="0" dirty="0" err="1">
                <a:solidFill>
                  <a:srgbClr val="B0C4DE"/>
                </a:solidFill>
              </a:rPr>
              <a:t>nascimento</a:t>
            </a:r>
            <a:r>
              <a:rPr sz="1200" b="0" i="0" dirty="0">
                <a:solidFill>
                  <a:srgbClr val="B0C4DE"/>
                </a:solidFill>
              </a:rPr>
              <a:t>
</a:t>
            </a:r>
            <a:r>
              <a:rPr sz="1200" b="0" i="0" dirty="0" err="1">
                <a:solidFill>
                  <a:srgbClr val="B0C4DE"/>
                </a:solidFill>
              </a:rPr>
              <a:t>Validação</a:t>
            </a:r>
            <a:r>
              <a:rPr sz="1200" b="0" i="0" dirty="0">
                <a:solidFill>
                  <a:srgbClr val="B0C4DE"/>
                </a:solidFill>
              </a:rPr>
              <a:t> </a:t>
            </a:r>
            <a:r>
              <a:rPr sz="1200" b="0" i="0" dirty="0" err="1">
                <a:solidFill>
                  <a:srgbClr val="B0C4DE"/>
                </a:solidFill>
              </a:rPr>
              <a:t>matemática</a:t>
            </a:r>
            <a:r>
              <a:rPr sz="1200" b="0" i="0" dirty="0">
                <a:solidFill>
                  <a:srgbClr val="B0C4DE"/>
                </a:solidFill>
              </a:rPr>
              <a:t> de CPF
</a:t>
            </a:r>
            <a:r>
              <a:rPr sz="1200" b="0" i="0" dirty="0" err="1">
                <a:solidFill>
                  <a:srgbClr val="B0C4DE"/>
                </a:solidFill>
              </a:rPr>
              <a:t>Até</a:t>
            </a:r>
            <a:r>
              <a:rPr sz="1200" b="0" i="0" dirty="0">
                <a:solidFill>
                  <a:srgbClr val="B0C4DE"/>
                </a:solidFill>
              </a:rPr>
              <a:t> 3 </a:t>
            </a:r>
            <a:r>
              <a:rPr sz="1200" b="0" i="0" dirty="0" err="1">
                <a:solidFill>
                  <a:srgbClr val="B0C4DE"/>
                </a:solidFill>
              </a:rPr>
              <a:t>tentativas</a:t>
            </a:r>
            <a:r>
              <a:rPr sz="1200" b="0" i="0" dirty="0">
                <a:solidFill>
                  <a:srgbClr val="B0C4DE"/>
                </a:solidFill>
              </a:rPr>
              <a:t> com </a:t>
            </a:r>
            <a:r>
              <a:rPr sz="1200" b="0" i="0" dirty="0" err="1">
                <a:solidFill>
                  <a:srgbClr val="B0C4DE"/>
                </a:solidFill>
              </a:rPr>
              <a:t>controle</a:t>
            </a:r>
            <a:r>
              <a:rPr sz="1200" b="0" i="0" dirty="0">
                <a:solidFill>
                  <a:srgbClr val="B0C4DE"/>
                </a:solidFill>
              </a:rPr>
              <a:t> </a:t>
            </a:r>
            <a:r>
              <a:rPr sz="1200" b="0" i="0" dirty="0" err="1">
                <a:solidFill>
                  <a:srgbClr val="B0C4DE"/>
                </a:solidFill>
              </a:rPr>
              <a:t>automático</a:t>
            </a:r>
            <a:endParaRPr sz="1200" b="0" i="0" dirty="0">
              <a:solidFill>
                <a:srgbClr val="B0C4DE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309360" y="2240280"/>
            <a:ext cx="5577840" cy="192024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09360" y="2240280"/>
            <a:ext cx="36576" cy="19202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6520" y="233172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</a:rPr>
              <a:t>💳  Gestão de Crédito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743200"/>
            <a:ext cx="5303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</a:rPr>
              <a:t>Consulta de limite em tempo real
Aumento automático baseado em score
Registro histórico persistente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43400"/>
            <a:ext cx="5577840" cy="192024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4343400"/>
            <a:ext cx="36576" cy="19202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44348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</a:rPr>
              <a:t>📋  Entrevista Financeira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846320"/>
            <a:ext cx="5303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</a:rPr>
              <a:t>Recálculo de score por IA
Perguntas conversacionais (1 por vez)
Atualização automática no perfil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4343400"/>
            <a:ext cx="5577840" cy="192024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09360" y="4343400"/>
            <a:ext cx="36576" cy="19202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46520" y="44348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</a:rPr>
              <a:t>💱  Câmbio em Tempo Real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846320"/>
            <a:ext cx="5303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</a:rPr>
              <a:t>API externa sem autenticação
USD, EUR, GBP, ARS e mais
Nunca inventa valores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0A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B4D8"/>
                </a:solidFill>
              </a:rPr>
              <a:t>Arquitetura do Sistema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47120" cy="27432"/>
          </a:xfrm>
          <a:prstGeom prst="rect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5"/>
          <p:cNvSpPr txBox="1"/>
          <p:nvPr/>
        </p:nvSpPr>
        <p:spPr>
          <a:xfrm>
            <a:off x="162233" y="1417320"/>
            <a:ext cx="6318542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500" b="1" dirty="0">
                <a:solidFill>
                  <a:srgbClr val="B0C4DE"/>
                </a:solidFill>
              </a:rPr>
              <a:t>Visão </a:t>
            </a:r>
            <a:r>
              <a:rPr lang="pt-BR" sz="1500" b="1" dirty="0" smtClean="0">
                <a:solidFill>
                  <a:srgbClr val="B0C4DE"/>
                </a:solidFill>
              </a:rPr>
              <a:t>Geral </a:t>
            </a:r>
            <a:r>
              <a:rPr lang="pt-BR" sz="1500" b="1" dirty="0">
                <a:solidFill>
                  <a:srgbClr val="B0C4DE"/>
                </a:solidFill>
              </a:rPr>
              <a:t>do G</a:t>
            </a:r>
            <a:r>
              <a:rPr lang="pt-BR" sz="1500" b="1" dirty="0" smtClean="0">
                <a:solidFill>
                  <a:srgbClr val="B0C4DE"/>
                </a:solidFill>
              </a:rPr>
              <a:t>rafo</a:t>
            </a:r>
          </a:p>
          <a:p>
            <a:endParaRPr lang="pt-BR" sz="1500" b="1" dirty="0">
              <a:solidFill>
                <a:srgbClr val="B0C4DE"/>
              </a:solidFill>
            </a:endParaRPr>
          </a:p>
          <a:p>
            <a:r>
              <a:rPr lang="pt-BR" sz="1500" dirty="0">
                <a:solidFill>
                  <a:srgbClr val="B0C4DE"/>
                </a:solidFill>
              </a:rPr>
              <a:t>O grafo </a:t>
            </a:r>
            <a:r>
              <a:rPr lang="pt-BR" sz="1500" dirty="0" err="1">
                <a:solidFill>
                  <a:srgbClr val="B0C4DE"/>
                </a:solidFill>
              </a:rPr>
              <a:t>LangGraph</a:t>
            </a:r>
            <a:r>
              <a:rPr lang="pt-BR" sz="1500" dirty="0">
                <a:solidFill>
                  <a:srgbClr val="B0C4DE"/>
                </a:solidFill>
              </a:rPr>
              <a:t> utiliza entrada condicional via START: a cada invocação, o roteador verifica o campo </a:t>
            </a:r>
            <a:r>
              <a:rPr lang="pt-BR" sz="1500" dirty="0" err="1">
                <a:solidFill>
                  <a:srgbClr val="B0C4DE"/>
                </a:solidFill>
              </a:rPr>
              <a:t>agente_atual</a:t>
            </a:r>
            <a:r>
              <a:rPr lang="pt-BR" sz="1500" dirty="0">
                <a:solidFill>
                  <a:srgbClr val="B0C4DE"/>
                </a:solidFill>
              </a:rPr>
              <a:t> do estado e direciona para o nó correto (</a:t>
            </a:r>
            <a:r>
              <a:rPr lang="pt-BR" sz="1500" dirty="0" smtClean="0">
                <a:solidFill>
                  <a:srgbClr val="B0C4DE"/>
                </a:solidFill>
              </a:rPr>
              <a:t>sem </a:t>
            </a:r>
            <a:r>
              <a:rPr lang="pt-BR" sz="1500" dirty="0">
                <a:solidFill>
                  <a:srgbClr val="B0C4DE"/>
                </a:solidFill>
              </a:rPr>
              <a:t>passar pela triagem em toda </a:t>
            </a:r>
            <a:r>
              <a:rPr lang="pt-BR" sz="1500" dirty="0" smtClean="0">
                <a:solidFill>
                  <a:srgbClr val="B0C4DE"/>
                </a:solidFill>
              </a:rPr>
              <a:t>mensagem)</a:t>
            </a:r>
            <a:endParaRPr sz="1500" b="0" i="0" dirty="0">
              <a:solidFill>
                <a:srgbClr val="B0C4DE"/>
              </a:solidFill>
            </a:endParaRPr>
          </a:p>
        </p:txBody>
      </p:sp>
      <p:pic>
        <p:nvPicPr>
          <p:cNvPr id="36" name="Imagem 3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047" y="2924388"/>
            <a:ext cx="6032095" cy="3446911"/>
          </a:xfrm>
          <a:prstGeom prst="rect">
            <a:avLst/>
          </a:prstGeom>
        </p:spPr>
      </p:pic>
      <p:pic>
        <p:nvPicPr>
          <p:cNvPr id="37" name="Imagem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5265" y="1814489"/>
            <a:ext cx="5337057" cy="4933675"/>
          </a:xfrm>
          <a:prstGeom prst="rect">
            <a:avLst/>
          </a:prstGeom>
        </p:spPr>
      </p:pic>
      <p:sp>
        <p:nvSpPr>
          <p:cNvPr id="38" name="TextBox 5"/>
          <p:cNvSpPr txBox="1"/>
          <p:nvPr/>
        </p:nvSpPr>
        <p:spPr>
          <a:xfrm>
            <a:off x="6636774" y="1390093"/>
            <a:ext cx="5102942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500" b="1" dirty="0" smtClean="0">
                <a:solidFill>
                  <a:srgbClr val="B0C4DE"/>
                </a:solidFill>
              </a:rPr>
              <a:t>Estrutura dos Arquivos</a:t>
            </a:r>
            <a:endParaRPr sz="1500" b="0" i="0" dirty="0">
              <a:solidFill>
                <a:srgbClr val="B0C4DE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B4D8"/>
                </a:solidFill>
              </a:rPr>
              <a:t>Os 4 Agentes Especializados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47120" cy="27432"/>
          </a:xfrm>
          <a:prstGeom prst="rect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5669280" cy="237744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508760"/>
            <a:ext cx="45720" cy="23774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</a:rPr>
              <a:t>🔐  Triagem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011680"/>
            <a:ext cx="53949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B0C4DE"/>
                </a:solidFill>
              </a:rPr>
              <a:t>▸  Porta de entrada obrigatória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B0C4DE"/>
                </a:solidFill>
              </a:rPr>
              <a:t>▸  Valida CPF matematicamente (algoritmo oficial)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B0C4DE"/>
                </a:solidFill>
              </a:rPr>
              <a:t>▸  Autentica: CPF + data de nascimento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B0C4DE"/>
                </a:solidFill>
              </a:rPr>
              <a:t>▸  Máximo 3 tentativas de CPF inválido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B0C4DE"/>
                </a:solidFill>
              </a:rPr>
              <a:t>▸  Máximo 3 tentativas de autenticação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B0C4DE"/>
                </a:solidFill>
              </a:rPr>
              <a:t>▸  Roteia para o agente correto após autenticação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81928" y="1508760"/>
            <a:ext cx="5669280" cy="237744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81928" y="1508760"/>
            <a:ext cx="45720" cy="2377440"/>
          </a:xfrm>
          <a:prstGeom prst="rect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19088" y="160020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77B6"/>
                </a:solidFill>
              </a:rPr>
              <a:t>💳  Crédito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2011680"/>
            <a:ext cx="5394960" cy="1041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 dirty="0">
                <a:solidFill>
                  <a:srgbClr val="B0C4DE"/>
                </a:solidFill>
              </a:rPr>
              <a:t>▸  </a:t>
            </a:r>
            <a:r>
              <a:rPr sz="1100" dirty="0" err="1">
                <a:solidFill>
                  <a:srgbClr val="B0C4DE"/>
                </a:solidFill>
              </a:rPr>
              <a:t>Consulta</a:t>
            </a:r>
            <a:r>
              <a:rPr sz="1100" dirty="0">
                <a:solidFill>
                  <a:srgbClr val="B0C4DE"/>
                </a:solidFill>
              </a:rPr>
              <a:t> o </a:t>
            </a:r>
            <a:r>
              <a:rPr sz="1100" dirty="0" err="1">
                <a:solidFill>
                  <a:srgbClr val="B0C4DE"/>
                </a:solidFill>
              </a:rPr>
              <a:t>limite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atual</a:t>
            </a:r>
            <a:r>
              <a:rPr sz="1100" dirty="0">
                <a:solidFill>
                  <a:srgbClr val="B0C4DE"/>
                </a:solidFill>
              </a:rPr>
              <a:t> do </a:t>
            </a:r>
            <a:r>
              <a:rPr sz="1100" dirty="0" err="1">
                <a:solidFill>
                  <a:srgbClr val="B0C4DE"/>
                </a:solidFill>
              </a:rPr>
              <a:t>cliente</a:t>
            </a:r>
            <a:endParaRPr sz="1100" dirty="0">
              <a:solidFill>
                <a:srgbClr val="B0C4DE"/>
              </a:solidFill>
            </a:endParaRPr>
          </a:p>
          <a:p>
            <a:pPr>
              <a:spcBef>
                <a:spcPts val="200"/>
              </a:spcBef>
            </a:pPr>
            <a:r>
              <a:rPr sz="1100" dirty="0">
                <a:solidFill>
                  <a:srgbClr val="B0C4DE"/>
                </a:solidFill>
              </a:rPr>
              <a:t>▸  </a:t>
            </a:r>
            <a:r>
              <a:rPr sz="1100" dirty="0" err="1">
                <a:solidFill>
                  <a:srgbClr val="B0C4DE"/>
                </a:solidFill>
              </a:rPr>
              <a:t>Solicita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aumento</a:t>
            </a:r>
            <a:r>
              <a:rPr sz="1100" dirty="0">
                <a:solidFill>
                  <a:srgbClr val="B0C4DE"/>
                </a:solidFill>
              </a:rPr>
              <a:t> com </a:t>
            </a:r>
            <a:r>
              <a:rPr sz="1100" dirty="0" err="1">
                <a:solidFill>
                  <a:srgbClr val="B0C4DE"/>
                </a:solidFill>
              </a:rPr>
              <a:t>decisão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automática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por</a:t>
            </a:r>
            <a:r>
              <a:rPr sz="1100" dirty="0">
                <a:solidFill>
                  <a:srgbClr val="B0C4DE"/>
                </a:solidFill>
              </a:rPr>
              <a:t> score</a:t>
            </a:r>
          </a:p>
          <a:p>
            <a:pPr>
              <a:spcBef>
                <a:spcPts val="200"/>
              </a:spcBef>
            </a:pPr>
            <a:r>
              <a:rPr sz="1100" dirty="0">
                <a:solidFill>
                  <a:srgbClr val="B0C4DE"/>
                </a:solidFill>
              </a:rPr>
              <a:t>▸  Score </a:t>
            </a:r>
            <a:r>
              <a:rPr sz="1100" dirty="0" err="1">
                <a:solidFill>
                  <a:srgbClr val="B0C4DE"/>
                </a:solidFill>
              </a:rPr>
              <a:t>insuficiente</a:t>
            </a:r>
            <a:r>
              <a:rPr sz="1100" dirty="0">
                <a:solidFill>
                  <a:srgbClr val="B0C4DE"/>
                </a:solidFill>
              </a:rPr>
              <a:t> → </a:t>
            </a:r>
            <a:r>
              <a:rPr sz="1100" dirty="0" err="1">
                <a:solidFill>
                  <a:srgbClr val="B0C4DE"/>
                </a:solidFill>
              </a:rPr>
              <a:t>oferece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entrevista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financeira</a:t>
            </a:r>
            <a:endParaRPr sz="1100" dirty="0">
              <a:solidFill>
                <a:srgbClr val="B0C4DE"/>
              </a:solidFill>
            </a:endParaRPr>
          </a:p>
          <a:p>
            <a:pPr>
              <a:spcBef>
                <a:spcPts val="200"/>
              </a:spcBef>
            </a:pPr>
            <a:r>
              <a:rPr sz="1100" dirty="0">
                <a:solidFill>
                  <a:srgbClr val="B0C4DE"/>
                </a:solidFill>
              </a:rPr>
              <a:t>▸  </a:t>
            </a:r>
            <a:r>
              <a:rPr sz="1100" dirty="0" err="1">
                <a:solidFill>
                  <a:srgbClr val="B0C4DE"/>
                </a:solidFill>
              </a:rPr>
              <a:t>Registra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histórico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em</a:t>
            </a:r>
            <a:r>
              <a:rPr sz="1100" dirty="0">
                <a:solidFill>
                  <a:srgbClr val="B0C4DE"/>
                </a:solidFill>
              </a:rPr>
              <a:t> CSV com timestamp</a:t>
            </a:r>
          </a:p>
          <a:p>
            <a:pPr>
              <a:spcBef>
                <a:spcPts val="200"/>
              </a:spcBef>
            </a:pPr>
            <a:r>
              <a:rPr sz="1100" dirty="0">
                <a:solidFill>
                  <a:srgbClr val="B0C4DE"/>
                </a:solidFill>
              </a:rPr>
              <a:t>▸  </a:t>
            </a:r>
            <a:r>
              <a:rPr sz="1100" dirty="0" err="1">
                <a:solidFill>
                  <a:srgbClr val="B0C4DE"/>
                </a:solidFill>
              </a:rPr>
              <a:t>Lógica</a:t>
            </a:r>
            <a:r>
              <a:rPr sz="1100" dirty="0">
                <a:solidFill>
                  <a:srgbClr val="B0C4DE"/>
                </a:solidFill>
              </a:rPr>
              <a:t> de </a:t>
            </a:r>
            <a:r>
              <a:rPr sz="1100" dirty="0" err="1">
                <a:solidFill>
                  <a:srgbClr val="B0C4DE"/>
                </a:solidFill>
              </a:rPr>
              <a:t>aprovação</a:t>
            </a:r>
            <a:r>
              <a:rPr sz="1100" dirty="0">
                <a:solidFill>
                  <a:srgbClr val="B0C4DE"/>
                </a:solidFill>
              </a:rPr>
              <a:t> 100% </a:t>
            </a:r>
            <a:r>
              <a:rPr sz="1100" dirty="0" err="1">
                <a:solidFill>
                  <a:srgbClr val="B0C4DE"/>
                </a:solidFill>
              </a:rPr>
              <a:t>em</a:t>
            </a:r>
            <a:r>
              <a:rPr sz="1100">
                <a:solidFill>
                  <a:srgbClr val="B0C4DE"/>
                </a:solidFill>
              </a:rPr>
              <a:t> </a:t>
            </a:r>
            <a:r>
              <a:rPr sz="1100" smtClean="0">
                <a:solidFill>
                  <a:srgbClr val="B0C4DE"/>
                </a:solidFill>
              </a:rPr>
              <a:t>Python</a:t>
            </a:r>
            <a:endParaRPr sz="1100" dirty="0">
              <a:solidFill>
                <a:srgbClr val="B0C4DE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65760" y="4023360"/>
            <a:ext cx="5669280" cy="237744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65760" y="4023360"/>
            <a:ext cx="45720" cy="237744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411480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D48A"/>
                </a:solidFill>
              </a:rPr>
              <a:t>📋  Entrevista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526280"/>
            <a:ext cx="53949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B0C4DE"/>
                </a:solidFill>
              </a:rPr>
              <a:t>▸  Entrevista conversacional (1 pergunta por vez)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B0C4DE"/>
                </a:solidFill>
              </a:rPr>
              <a:t>▸  Coleta: renda, emprego, despesas, dependentes, dívidas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B0C4DE"/>
                </a:solidFill>
              </a:rPr>
              <a:t>▸  Fórmula proprietária de score (0 a 1000)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B0C4DE"/>
                </a:solidFill>
              </a:rPr>
              <a:t>▸  Atualiza score no CSV automaticamente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B0C4DE"/>
                </a:solidFill>
              </a:rPr>
              <a:t>▸  Redireciona ao Agente de Crédito ao concluir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81928" y="4023360"/>
            <a:ext cx="5669280" cy="237744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81928" y="4023360"/>
            <a:ext cx="45720" cy="237744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19088" y="411480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8C00"/>
                </a:solidFill>
              </a:rPr>
              <a:t>💱  Câmbio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4526280"/>
            <a:ext cx="53949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B0C4DE"/>
                </a:solidFill>
              </a:rPr>
              <a:t>▸  Detecta menção de qualquer moeda na conversa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B0C4DE"/>
                </a:solidFill>
              </a:rPr>
              <a:t>▸  Consulta AwesomeAPI em tempo real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B0C4DE"/>
                </a:solidFill>
              </a:rPr>
              <a:t>▸  Exibe compra, venda e variação percentual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B0C4DE"/>
                </a:solidFill>
              </a:rPr>
              <a:t>▸  Nunca inventa ou estima valores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B0C4DE"/>
                </a:solidFill>
              </a:rPr>
              <a:t>▸  Disponível de qualquer agente após autenticação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B4D8"/>
                </a:solidFill>
              </a:rPr>
              <a:t>Stack Tecnológica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47120" cy="27432"/>
          </a:xfrm>
          <a:prstGeom prst="rect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3749039" cy="214884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508760"/>
            <a:ext cx="3749039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673351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LangGraph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03911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00B4D8"/>
                </a:solidFill>
              </a:rPr>
              <a:t>Framework de Agentes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3172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0C4DE"/>
                </a:solidFill>
              </a:rPr>
              <a:t>Grafo de estados com controle explícito de fluxo.
Roteamento condicional, nós independentes por agente.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508760"/>
            <a:ext cx="3749039" cy="214884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1508760"/>
            <a:ext cx="3749039" cy="54864"/>
          </a:xfrm>
          <a:prstGeom prst="rect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34840" y="1673351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Gemini 2.5 Flash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03911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0077B6"/>
                </a:solidFill>
              </a:rPr>
              <a:t>LLM (Google AI Studio)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331720"/>
            <a:ext cx="347472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050" dirty="0">
                <a:solidFill>
                  <a:srgbClr val="B0C4DE"/>
                </a:solidFill>
              </a:rPr>
              <a:t>S</a:t>
            </a:r>
            <a:r>
              <a:rPr sz="1050" b="0" i="0" dirty="0" err="1" smtClean="0">
                <a:solidFill>
                  <a:srgbClr val="B0C4DE"/>
                </a:solidFill>
              </a:rPr>
              <a:t>uporta</a:t>
            </a:r>
            <a:r>
              <a:rPr sz="1050" b="0" i="0" dirty="0" smtClean="0">
                <a:solidFill>
                  <a:srgbClr val="B0C4DE"/>
                </a:solidFill>
              </a:rPr>
              <a:t> </a:t>
            </a:r>
            <a:r>
              <a:rPr sz="1050" b="0" i="0" dirty="0">
                <a:solidFill>
                  <a:srgbClr val="B0C4DE"/>
                </a:solidFill>
              </a:rPr>
              <a:t>tool calling, thinking mode </a:t>
            </a:r>
            <a:r>
              <a:rPr sz="1050" b="0" i="0" dirty="0" err="1">
                <a:solidFill>
                  <a:srgbClr val="B0C4DE"/>
                </a:solidFill>
              </a:rPr>
              <a:t>desabilitável</a:t>
            </a:r>
            <a:r>
              <a:rPr sz="1050" b="0" i="0" dirty="0">
                <a:solidFill>
                  <a:srgbClr val="B0C4DE"/>
                </a:solidFill>
              </a:rPr>
              <a:t>.
</a:t>
            </a:r>
            <a:r>
              <a:rPr sz="1050" b="0" i="0" dirty="0" err="1">
                <a:solidFill>
                  <a:srgbClr val="B0C4DE"/>
                </a:solidFill>
              </a:rPr>
              <a:t>Temperatura</a:t>
            </a:r>
            <a:r>
              <a:rPr sz="1050" b="0" i="0" dirty="0">
                <a:solidFill>
                  <a:srgbClr val="B0C4DE"/>
                </a:solidFill>
              </a:rPr>
              <a:t> 1.0, </a:t>
            </a:r>
            <a:r>
              <a:rPr sz="1050" b="0" i="0" dirty="0" err="1">
                <a:solidFill>
                  <a:srgbClr val="B0C4DE"/>
                </a:solidFill>
              </a:rPr>
              <a:t>thinking_budget</a:t>
            </a:r>
            <a:r>
              <a:rPr sz="1050" b="0" i="0" dirty="0">
                <a:solidFill>
                  <a:srgbClr val="B0C4DE"/>
                </a:solidFill>
              </a:rPr>
              <a:t>=0.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508760"/>
            <a:ext cx="3749039" cy="214884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29600" y="1508760"/>
            <a:ext cx="3749039" cy="54864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66760" y="1673351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LangChain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03911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00D48A"/>
                </a:solidFill>
              </a:rPr>
              <a:t>Abstração de Tools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33172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0C4DE"/>
                </a:solidFill>
              </a:rPr>
              <a:t>@tool decorator para cada ferramenta bancária.
ToolNode para execução no grafo.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794760"/>
            <a:ext cx="3749039" cy="214884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65760" y="3794760"/>
            <a:ext cx="3749039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2920" y="39593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Streamlit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32511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8C00"/>
                </a:solidFill>
              </a:rPr>
              <a:t>Interface Web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617720"/>
            <a:ext cx="34747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 dirty="0" err="1">
                <a:solidFill>
                  <a:srgbClr val="B0C4DE"/>
                </a:solidFill>
              </a:rPr>
              <a:t>Tema</a:t>
            </a:r>
            <a:r>
              <a:rPr sz="1050" b="0" i="0" dirty="0">
                <a:solidFill>
                  <a:srgbClr val="B0C4DE"/>
                </a:solidFill>
              </a:rPr>
              <a:t> </a:t>
            </a:r>
            <a:r>
              <a:rPr sz="1050" b="0" i="0" dirty="0" err="1">
                <a:solidFill>
                  <a:srgbClr val="B0C4DE"/>
                </a:solidFill>
              </a:rPr>
              <a:t>bancário</a:t>
            </a:r>
            <a:r>
              <a:rPr sz="1050" b="0" i="0" dirty="0">
                <a:solidFill>
                  <a:srgbClr val="B0C4DE"/>
                </a:solidFill>
              </a:rPr>
              <a:t> </a:t>
            </a:r>
            <a:r>
              <a:rPr sz="1050" b="0" i="0" dirty="0" err="1">
                <a:solidFill>
                  <a:srgbClr val="B0C4DE"/>
                </a:solidFill>
              </a:rPr>
              <a:t>escuro</a:t>
            </a:r>
            <a:r>
              <a:rPr sz="1050" b="0" i="0" dirty="0">
                <a:solidFill>
                  <a:srgbClr val="B0C4DE"/>
                </a:solidFill>
              </a:rPr>
              <a:t> </a:t>
            </a:r>
            <a:r>
              <a:rPr sz="1050" b="0" i="0" dirty="0" err="1">
                <a:solidFill>
                  <a:srgbClr val="B0C4DE"/>
                </a:solidFill>
              </a:rPr>
              <a:t>customizado</a:t>
            </a:r>
            <a:r>
              <a:rPr sz="1050" b="0" i="0" dirty="0">
                <a:solidFill>
                  <a:srgbClr val="B0C4DE"/>
                </a:solidFill>
              </a:rPr>
              <a:t> com CSS</a:t>
            </a:r>
            <a:r>
              <a:rPr sz="1050" b="0" i="0" dirty="0" smtClean="0">
                <a:solidFill>
                  <a:srgbClr val="B0C4DE"/>
                </a:solidFill>
              </a:rPr>
              <a:t>.</a:t>
            </a:r>
            <a:endParaRPr sz="1050" b="0" i="0" dirty="0">
              <a:solidFill>
                <a:srgbClr val="B0C4DE"/>
              </a:solidFill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297680" y="3794760"/>
            <a:ext cx="3749039" cy="214884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297680" y="3794760"/>
            <a:ext cx="3749039" cy="54864"/>
          </a:xfrm>
          <a:prstGeom prst="rect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34840" y="39593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AwesomeAPI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432511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77DFF"/>
                </a:solidFill>
              </a:rPr>
              <a:t>API de Câmbio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461772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0C4DE"/>
                </a:solidFill>
              </a:rPr>
              <a:t>Gratuita, sem autenticação, cobertura ampla de moedas.
Retorno em tempo real com compra, venda e variação.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3794760"/>
            <a:ext cx="3749039" cy="214884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229600" y="3794760"/>
            <a:ext cx="3749039" cy="54864"/>
          </a:xfrm>
          <a:prstGeom prst="rect">
            <a:avLst/>
          </a:prstGeom>
          <a:solidFill>
            <a:srgbClr val="B0C4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66760" y="39593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CSV / Python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432511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0C4DE"/>
                </a:solidFill>
              </a:rPr>
              <a:t>Persistência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6760" y="4617720"/>
            <a:ext cx="347472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 dirty="0" err="1" smtClean="0">
                <a:solidFill>
                  <a:srgbClr val="B0C4DE"/>
                </a:solidFill>
              </a:rPr>
              <a:t>Leitura</a:t>
            </a:r>
            <a:r>
              <a:rPr sz="1050" b="0" i="0" dirty="0" smtClean="0">
                <a:solidFill>
                  <a:srgbClr val="B0C4DE"/>
                </a:solidFill>
              </a:rPr>
              <a:t>/</a:t>
            </a:r>
            <a:r>
              <a:rPr sz="1050" b="0" i="0" dirty="0" err="1" smtClean="0">
                <a:solidFill>
                  <a:srgbClr val="B0C4DE"/>
                </a:solidFill>
              </a:rPr>
              <a:t>gravação</a:t>
            </a:r>
            <a:r>
              <a:rPr sz="1050" b="0" i="0" dirty="0" smtClean="0">
                <a:solidFill>
                  <a:srgbClr val="B0C4DE"/>
                </a:solidFill>
              </a:rPr>
              <a:t> </a:t>
            </a:r>
            <a:r>
              <a:rPr sz="1050" b="0" i="0" dirty="0">
                <a:solidFill>
                  <a:srgbClr val="B0C4DE"/>
                </a:solidFill>
              </a:rPr>
              <a:t>com </a:t>
            </a:r>
            <a:r>
              <a:rPr sz="1050" b="0" i="0" dirty="0" err="1">
                <a:solidFill>
                  <a:srgbClr val="B0C4DE"/>
                </a:solidFill>
              </a:rPr>
              <a:t>csv.DictReader</a:t>
            </a:r>
            <a:r>
              <a:rPr sz="1050" b="0" i="0" dirty="0">
                <a:solidFill>
                  <a:srgbClr val="B0C4DE"/>
                </a:solidFill>
              </a:rPr>
              <a:t>.
</a:t>
            </a:r>
            <a:r>
              <a:rPr sz="1050" b="0" i="0" dirty="0" err="1">
                <a:solidFill>
                  <a:srgbClr val="B0C4DE"/>
                </a:solidFill>
              </a:rPr>
              <a:t>Clientes</a:t>
            </a:r>
            <a:r>
              <a:rPr sz="1050" b="0" i="0" dirty="0">
                <a:solidFill>
                  <a:srgbClr val="B0C4DE"/>
                </a:solidFill>
              </a:rPr>
              <a:t>, score-</a:t>
            </a:r>
            <a:r>
              <a:rPr sz="1050" b="0" i="0" dirty="0" err="1">
                <a:solidFill>
                  <a:srgbClr val="B0C4DE"/>
                </a:solidFill>
              </a:rPr>
              <a:t>limite</a:t>
            </a:r>
            <a:r>
              <a:rPr sz="1050" b="0" i="0" dirty="0">
                <a:solidFill>
                  <a:srgbClr val="B0C4DE"/>
                </a:solidFill>
              </a:rPr>
              <a:t> e </a:t>
            </a:r>
            <a:r>
              <a:rPr sz="1050" b="0" i="0" dirty="0" err="1">
                <a:solidFill>
                  <a:srgbClr val="B0C4DE"/>
                </a:solidFill>
              </a:rPr>
              <a:t>histórico</a:t>
            </a:r>
            <a:r>
              <a:rPr sz="1050" b="0" i="0" dirty="0">
                <a:solidFill>
                  <a:srgbClr val="B0C4DE"/>
                </a:solidFill>
              </a:rPr>
              <a:t> de </a:t>
            </a:r>
            <a:r>
              <a:rPr sz="1050" b="0" i="0" dirty="0" err="1">
                <a:solidFill>
                  <a:srgbClr val="B0C4DE"/>
                </a:solidFill>
              </a:rPr>
              <a:t>solicitações</a:t>
            </a:r>
            <a:r>
              <a:rPr sz="1050" b="0" i="0" dirty="0">
                <a:solidFill>
                  <a:srgbClr val="B0C4DE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B4D8"/>
                </a:solidFill>
              </a:rPr>
              <a:t>Decisões Técnicas &amp; Desafios Superados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47120" cy="27432"/>
          </a:xfrm>
          <a:prstGeom prst="rect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5669280" cy="1627632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508760"/>
            <a:ext cx="45720" cy="16276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563624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00"/>
                </a:solidFill>
              </a:rPr>
              <a:t>⚠  LLM recusava chamadas financeiras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892807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B0C4DE"/>
                </a:solidFill>
              </a:rPr>
              <a:t>Gemini 2.5 Flash recusa tool calls em operações financeiras por treinamento de segurança.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5000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D48A"/>
                </a:solidFill>
              </a:rPr>
              <a:t>✔  Python executa a ferramenta diretamente; LLM formata apenas a resposta ao cliente.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81928" y="1508760"/>
            <a:ext cx="5669280" cy="1627632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81928" y="1508760"/>
            <a:ext cx="45720" cy="16276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19088" y="1563624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00"/>
                </a:solidFill>
              </a:rPr>
              <a:t>⚠  Roteamento dinâmico no grafo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1892807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B0C4DE"/>
                </a:solidFill>
              </a:rPr>
              <a:t>LangGraph sempre reiniciava no nó de triagem, tornando os demais agentes inacessíveis.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35000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D48A"/>
                </a:solidFill>
              </a:rPr>
              <a:t>✔  Substituir set_entry_point por add_conditional_edges(START, router_principal) com campo agente_atual.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227832"/>
            <a:ext cx="5669280" cy="1627632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65760" y="3227832"/>
            <a:ext cx="45720" cy="16276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3282696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00"/>
                </a:solidFill>
              </a:rPr>
              <a:t>⚠  Falso positivo na intenção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611879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B0C4DE"/>
                </a:solidFill>
              </a:rPr>
              <a:t>A frase "entrevista de crédito" ativava keyword 'crédito' antes de 'entrevista'.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06908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D48A"/>
                </a:solidFill>
              </a:rPr>
              <a:t>✔  Quando no agente de crédito, checar keywords de entrevista diretamente, sem o detector geral.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81928" y="3227832"/>
            <a:ext cx="5669280" cy="1627632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81928" y="3227832"/>
            <a:ext cx="45720" cy="16276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19088" y="3282696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00"/>
                </a:solidFill>
              </a:rPr>
              <a:t>⚠  $ interpretado como LaTeX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3611879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B0C4DE"/>
                </a:solidFill>
              </a:rPr>
              <a:t>Streamlit interpreta $valor$ como fórmula matemática. Valores em R$ quebravam a renderização.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06908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D48A"/>
                </a:solidFill>
              </a:rPr>
              <a:t>✔  Escapar o símbolo antes de injetar no HTML: replace('$', '&amp;#36;').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946904"/>
            <a:ext cx="5669280" cy="1627632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65760" y="4946904"/>
            <a:ext cx="45720" cy="16276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500176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00"/>
                </a:solidFill>
              </a:rPr>
              <a:t>⚠  Validação real de CPF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330952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B0C4DE"/>
                </a:solidFill>
              </a:rPr>
              <a:t>O sistema aceitava qualquer número com 11 dígitos, inclusive sequências inválidas.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788152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D48A"/>
                </a:solidFill>
              </a:rPr>
              <a:t>✔  Implementação do algoritmo oficial dos dígitos verificadores + rejeição de sequências repetidas.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81928" y="4946904"/>
            <a:ext cx="5669280" cy="1627632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281928" y="4946904"/>
            <a:ext cx="45720" cy="16276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19088" y="500176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00"/>
                </a:solidFill>
              </a:rPr>
              <a:t>⚠  Aceitação de entrevista ambígua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9088" y="5330952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B0C4DE"/>
                </a:solidFill>
              </a:rPr>
              <a:t>Respostas afirmativas livres ("pode ser", "tenho interesse") não eram reconhecidas.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9088" y="5788152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D48A"/>
                </a:solidFill>
              </a:rPr>
              <a:t>✔  Campo entrevista_ofertada no estado + botões Sim/Não na UI para eliminar ambiguidade.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B4D8"/>
                </a:solidFill>
              </a:rPr>
              <a:t>Fluxo de Atendimento — Autenticação &amp; Crédito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47120" cy="27432"/>
          </a:xfrm>
          <a:prstGeom prst="rect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1554480" cy="173736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828800"/>
            <a:ext cx="155448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97280" y="1508760"/>
            <a:ext cx="365760" cy="3657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148132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828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1938528"/>
            <a:ext cx="14081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Saudação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2304288"/>
            <a:ext cx="140817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C4DE"/>
                </a:solidFill>
              </a:rPr>
              <a:t>Assistente
cumprimenta
profissionalmente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46888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31720" y="1828800"/>
            <a:ext cx="1554480" cy="173736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331720" y="1828800"/>
            <a:ext cx="155448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926079" y="1508760"/>
            <a:ext cx="365760" cy="3657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926079" y="148132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828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04872" y="1938528"/>
            <a:ext cx="14081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CPF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04872" y="2304288"/>
            <a:ext cx="140817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C4DE"/>
                </a:solidFill>
              </a:rPr>
              <a:t>Solicita CPF
e chama
validar_cpf()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246888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60520" y="1828800"/>
            <a:ext cx="1554480" cy="173736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160520" y="1828800"/>
            <a:ext cx="1554480" cy="457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754879" y="1508760"/>
            <a:ext cx="365760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754879" y="148132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828"/>
                </a:solidFill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33672" y="1938528"/>
            <a:ext cx="14081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Validação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33672" y="2304288"/>
            <a:ext cx="140817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C4DE"/>
                </a:solidFill>
              </a:rPr>
              <a:t>CPF inválido?
Informa e
pede novamente
(máx. 3x)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720" y="246888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1828800"/>
            <a:ext cx="1554480" cy="173736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989320" y="1828800"/>
            <a:ext cx="155448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583679" y="1508760"/>
            <a:ext cx="365760" cy="3657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83679" y="148132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828"/>
                </a:solidFill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62472" y="1938528"/>
            <a:ext cx="14081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Nascimento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62472" y="2304288"/>
            <a:ext cx="140817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C4DE"/>
                </a:solidFill>
              </a:rPr>
              <a:t>CPF válido?
Solicita data
DD/MM/AAAA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246888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18120" y="1828800"/>
            <a:ext cx="1554480" cy="173736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818120" y="1828800"/>
            <a:ext cx="1554480" cy="45720"/>
          </a:xfrm>
          <a:prstGeom prst="rect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8412480" y="1508760"/>
            <a:ext cx="365760" cy="365760"/>
          </a:xfrm>
          <a:prstGeom prst="rect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412480" y="148132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828"/>
                </a:solidFill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91272" y="1938528"/>
            <a:ext cx="14081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Autenticação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91272" y="2304288"/>
            <a:ext cx="140817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C4DE"/>
                </a:solidFill>
              </a:rPr>
              <a:t>Chama
autenticar_cliente()
contra CSV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246888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46920" y="1828800"/>
            <a:ext cx="1554480" cy="173736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9646920" y="1828800"/>
            <a:ext cx="1554480" cy="4572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10241280" y="1508760"/>
            <a:ext cx="365760" cy="36576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241280" y="148132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828"/>
                </a:solidFill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20072" y="1938528"/>
            <a:ext cx="14081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Serviço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20072" y="2304288"/>
            <a:ext cx="140817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C4DE"/>
                </a:solidFill>
              </a:rPr>
              <a:t>Autenticado!
Pergunta como
pode ajudar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3931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00B4D8"/>
                </a:solidFill>
              </a:rPr>
              <a:t>Fluxo de Crédito (após autenticação):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297680"/>
            <a:ext cx="2103120" cy="86868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502920" y="4297680"/>
            <a:ext cx="21031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94360" y="4343400"/>
            <a:ext cx="19202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Consulta Limite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" y="4636008"/>
            <a:ext cx="19202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C4DE"/>
                </a:solidFill>
              </a:rPr>
              <a:t>Chama consultar_limite_credito(cpf)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06039" y="4526280"/>
            <a:ext cx="1097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97480" y="4297680"/>
            <a:ext cx="2103120" cy="86868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2697480" y="4297680"/>
            <a:ext cx="2103120" cy="36576"/>
          </a:xfrm>
          <a:prstGeom prst="rect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788920" y="4343400"/>
            <a:ext cx="19202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7B6"/>
                </a:solidFill>
              </a:rPr>
              <a:t>Solicita Aumento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88920" y="4636008"/>
            <a:ext cx="19202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C4DE"/>
                </a:solidFill>
              </a:rPr>
              <a:t>Cliente informa valor desejado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00600" y="4526280"/>
            <a:ext cx="1097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892040" y="4297680"/>
            <a:ext cx="2103120" cy="86868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4892040" y="4297680"/>
            <a:ext cx="2103120" cy="3657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4983479" y="4343400"/>
            <a:ext cx="19202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8C00"/>
                </a:solidFill>
              </a:rPr>
              <a:t>Decisão Auto.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983479" y="4636008"/>
            <a:ext cx="19202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C4DE"/>
                </a:solidFill>
              </a:rPr>
              <a:t>Python verifica score × tabela CSV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95159" y="4526280"/>
            <a:ext cx="1097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86599" y="4297680"/>
            <a:ext cx="2103120" cy="86868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7086599" y="4297680"/>
            <a:ext cx="2103120" cy="36576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7178039" y="4343400"/>
            <a:ext cx="19202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D48A"/>
                </a:solidFill>
              </a:rPr>
              <a:t>Aprovado 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78039" y="4636008"/>
            <a:ext cx="19202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C4DE"/>
                </a:solidFill>
              </a:rPr>
              <a:t>Novo limite atualizado no CSV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89719" y="4526280"/>
            <a:ext cx="1097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281160" y="4297680"/>
            <a:ext cx="2103120" cy="86868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9281160" y="4297680"/>
            <a:ext cx="2103120" cy="36576"/>
          </a:xfrm>
          <a:prstGeom prst="rect">
            <a:avLst/>
          </a:prstGeom>
          <a:solidFill>
            <a:srgbClr val="FF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9372600" y="4343400"/>
            <a:ext cx="19202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5555"/>
                </a:solidFill>
              </a:rPr>
              <a:t>Rejeitado 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372600" y="4636008"/>
            <a:ext cx="19202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C4DE"/>
                </a:solidFill>
              </a:rPr>
              <a:t>Oferece Entrevista de Crédito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B4D8"/>
                </a:solidFill>
              </a:rPr>
              <a:t>Funcionalidades Entregues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47120" cy="27432"/>
          </a:xfrm>
          <a:prstGeom prst="rect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✅  Validação matemática de CPF (dígitos verificadores)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✅  Autenticação CPF + data de nascimento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✅  Controle de tentativas: 3 CPFs inválidos e 3 falhas de auth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✅  Encerramento automático por excesso de tentativas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✅  Consulta de limite de crédito em tempo real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✅  Aprovação/rejeição automática por score (Python)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✅  Registro histórico de solicitações com timestamp ISO 8601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✅  Entrevista financeira conversacional (1 pergunta por vez)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✅  Fórmula própria de score com 5 variáveis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50876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✅  Atualização automática de score no CSV após entrevista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✅  Redirecionamento automático crédito → entrevista → crédito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✅  Botões Sim/Não na UI para aceite da entrevista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✅  Cotação de câmbio em tempo real (USD, EUR, GBP, ARS…)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✅  Transição transparente entre agentes (1 assistente ao cliente)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✅  System prompt dinâmico com contexto do cliente autenticado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✅  Interface Streamlit com design bancário moderno (tema escuro)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✅  Sidebar com score, limite e agente ativo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✅  Logging centralizado com alertas Slack / e-mail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1508760"/>
            <a:ext cx="36576" cy="5029200"/>
          </a:xfrm>
          <a:prstGeom prst="rect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2743200"/>
            <a:ext cx="12188952" cy="137160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18872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🏦  BANCO ÁGIL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103120"/>
            <a:ext cx="94457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00B4D8"/>
                </a:solidFill>
              </a:rPr>
              <a:t>Atendimento bancário inteligente, disponível 24h, escalável e seguro.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80360"/>
            <a:ext cx="103601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Obrigado!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9768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B4D8"/>
                </a:solidFill>
              </a:rPr>
              <a:t>Rodrigo Simões Costa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800600"/>
            <a:ext cx="103601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B0C4DE"/>
                </a:solidFill>
              </a:rPr>
              <a:t>rodrigo.costa-ext@dex.co  ·  Desafio T4Humans  ·  Maio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0" y="5349240"/>
            <a:ext cx="267919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548640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B0C4DE"/>
                </a:solidFill>
              </a:rPr>
              <a:t>github.com/rodrigosimoescosta77/desafio-t4humans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957</Words>
  <Application>Microsoft Office PowerPoint</Application>
  <PresentationFormat>Personalizar</PresentationFormat>
  <Paragraphs>160</Paragraphs>
  <Slides>10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subject/>
  <dc:creator/>
  <cp:keywords/>
  <dc:description>generated using python-pptx</dc:description>
  <cp:lastModifiedBy>renata pelinca</cp:lastModifiedBy>
  <cp:revision>9</cp:revision>
  <dcterms:created xsi:type="dcterms:W3CDTF">2013-01-27T09:14:16Z</dcterms:created>
  <dcterms:modified xsi:type="dcterms:W3CDTF">2026-05-18T18:37:24Z</dcterms:modified>
  <cp:category/>
</cp:coreProperties>
</file>