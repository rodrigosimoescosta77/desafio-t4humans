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7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94960" y="7315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FFFFFF"/>
                </a:solidFill>
              </a:rPr>
              <a:t>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BANCO ÁGIL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3464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4D8"/>
                </a:solidFill>
              </a:rPr>
              <a:t>Sistema Multi-Agente de Atendimento Bancário com IA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3611880"/>
            <a:ext cx="39593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379476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0C4DE"/>
                </a:solidFill>
              </a:rPr>
              <a:t>Powered by LangGraph  ·  Gemini 2.5 Flash  ·  Streamlit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76072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</a:rPr>
              <a:t>Rodrigo Simões Costa  ·  Desafio T4Humans  ·  Maio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O Problema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47120" cy="27432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669280" cy="320040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6576" cy="3200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5361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😤  Atendimento Tradicional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74520"/>
            <a:ext cx="54864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B0C4DE"/>
                </a:solidFill>
              </a:rPr>
              <a:t>• Filas longas e tempo de espera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B0C4DE"/>
                </a:solidFill>
              </a:rPr>
              <a:t>• Horário limitado (seg–sex, 9h–18h)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B0C4DE"/>
                </a:solidFill>
              </a:rPr>
              <a:t>• Atendentes sobrecarregados com tarefas repetitivas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B0C4DE"/>
                </a:solidFill>
              </a:rPr>
              <a:t>• Experiência inconsistente entre canais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669280" cy="320040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36576" cy="3200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15361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💔  Custo &amp; Escala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874520"/>
            <a:ext cx="54864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B0C4DE"/>
                </a:solidFill>
              </a:rPr>
              <a:t>• Alto custo operacional de call centers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B0C4DE"/>
                </a:solidFill>
              </a:rPr>
              <a:t>• Dificuldade de escalar em picos de demanda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B0C4DE"/>
                </a:solidFill>
              </a:rPr>
              <a:t>• Erros humanos em processos padronizados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B0C4DE"/>
                </a:solidFill>
              </a:rPr>
              <a:t>• Dados de atendimento pouco estruturados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9204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8A"/>
                </a:solidFill>
              </a:rPr>
              <a:t>💡  Oportunidade: IA conversacional especializada que atende 24h, é escalável e tem custo marginal próximo a zero.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A Solução — Banco Ágil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47120" cy="27432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Um assistente virtual bancário completo, com múltiplos agentes de IA especializados, operando como um único atendente coeso para o cliente.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5577840" cy="192024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36576" cy="1920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🔐  Autenticação Segura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CPF + data de nascimento
Validação matemática de CPF
Até 3 tentativas com controle automático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240280"/>
            <a:ext cx="5577840" cy="192024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2240280"/>
            <a:ext cx="36576" cy="1920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331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💳  Gestão de Crédito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7432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Consulta de limite em tempo real
Aumento automático baseado em score
Registro histórico persistente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43400"/>
            <a:ext cx="5577840" cy="192024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4343400"/>
            <a:ext cx="36576" cy="1920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434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📋  Entrevista Financeira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4632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Recálculo de score por IA
Perguntas conversacionais (1 por vez)
Atualização automática no perfil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343400"/>
            <a:ext cx="5577840" cy="192024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4343400"/>
            <a:ext cx="36576" cy="1920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4434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💱  Câmbio em Tempo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84632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API externa sem autenticação
USD, EUR, GBP, ARS e mais
Nunca inventa valores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Arquitetura do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47120" cy="27432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Grafo de Estados (LangGraph)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029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0C4DE"/>
                </a:solidFill>
                <a:latin typeface="Courier New"/>
              </a:rPr>
              <a:t>  [Usuário]</a:t>
            </a:r>
          </a:p>
          <a:p>
            <a:r>
              <a:rPr sz="1100">
                <a:solidFill>
                  <a:srgbClr val="B0C4DE"/>
                </a:solidFill>
                <a:latin typeface="Courier New"/>
              </a:rPr>
              <a:t>      │</a:t>
            </a:r>
          </a:p>
          <a:p>
            <a:r>
              <a:rPr sz="1100">
                <a:solidFill>
                  <a:srgbClr val="B0C4DE"/>
                </a:solidFill>
                <a:latin typeface="Courier New"/>
              </a:rPr>
              <a:t>  BancoAgilSession</a:t>
            </a:r>
          </a:p>
          <a:p>
            <a:r>
              <a:rPr sz="1100">
                <a:solidFill>
                  <a:srgbClr val="B0C4DE"/>
                </a:solidFill>
                <a:latin typeface="Courier New"/>
              </a:rPr>
              <a:t>  (detecção de intenção)</a:t>
            </a:r>
          </a:p>
          <a:p>
            <a:r>
              <a:rPr sz="1100">
                <a:solidFill>
                  <a:srgbClr val="B0C4DE"/>
                </a:solidFill>
                <a:latin typeface="Courier New"/>
              </a:rPr>
              <a:t>      │</a:t>
            </a:r>
          </a:p>
          <a:p>
            <a:r>
              <a:rPr sz="1100">
                <a:solidFill>
                  <a:srgbClr val="B0C4DE"/>
                </a:solidFill>
                <a:latin typeface="Courier New"/>
              </a:rPr>
              <a:t>  banco_graph.invoke(state)</a:t>
            </a:r>
          </a:p>
          <a:p>
            <a:r>
              <a:rPr sz="1100">
                <a:solidFill>
                  <a:srgbClr val="B0C4DE"/>
                </a:solidFill>
                <a:latin typeface="Courier New"/>
              </a:rPr>
              <a:t>      │</a:t>
            </a:r>
          </a:p>
          <a:p>
            <a:r>
              <a:rPr sz="1100">
                <a:solidFill>
                  <a:srgbClr val="B0C4DE"/>
                </a:solidFill>
                <a:latin typeface="Courier New"/>
              </a:rPr>
              <a:t>  router_principal</a:t>
            </a:r>
          </a:p>
          <a:p>
            <a:r>
              <a:rPr sz="1100">
                <a:solidFill>
                  <a:srgbClr val="B0C4DE"/>
                </a:solidFill>
                <a:latin typeface="Courier New"/>
              </a:rPr>
              <a:t>  ┌───┴───────────────┐</a:t>
            </a:r>
          </a:p>
          <a:p>
            <a:r>
              <a:rPr sz="1100">
                <a:solidFill>
                  <a:srgbClr val="B0C4DE"/>
                </a:solidFill>
                <a:latin typeface="Courier New"/>
              </a:rPr>
              <a:t>  │  Triagem   Crédito│</a:t>
            </a:r>
          </a:p>
          <a:p>
            <a:r>
              <a:rPr sz="1100">
                <a:solidFill>
                  <a:srgbClr val="B0C4DE"/>
                </a:solidFill>
                <a:latin typeface="Courier New"/>
              </a:rPr>
              <a:t>  │  Entrevista Câmbio│</a:t>
            </a:r>
          </a:p>
          <a:p>
            <a:r>
              <a:rPr sz="1100">
                <a:solidFill>
                  <a:srgbClr val="B0C4DE"/>
                </a:solidFill>
                <a:latin typeface="Courier New"/>
              </a:rPr>
              <a:t>  └───────────────────┘</a:t>
            </a:r>
          </a:p>
          <a:p>
            <a:r>
              <a:rPr sz="1100">
                <a:solidFill>
                  <a:srgbClr val="B0C4DE"/>
                </a:solidFill>
                <a:latin typeface="Courier New"/>
              </a:rPr>
              <a:t>      │  tool_call</a:t>
            </a:r>
          </a:p>
          <a:p>
            <a:r>
              <a:rPr sz="1100">
                <a:solidFill>
                  <a:srgbClr val="B0C4DE"/>
                </a:solidFill>
                <a:latin typeface="Courier New"/>
              </a:rPr>
              <a:t>  ToolNode Handler</a:t>
            </a:r>
          </a:p>
          <a:p>
            <a:r>
              <a:rPr sz="1100">
                <a:solidFill>
                  <a:srgbClr val="B0C4DE"/>
                </a:solidFill>
                <a:latin typeface="Courier New"/>
              </a:rPr>
              <a:t>  (atualiza estado)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463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Componentes Principais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920240"/>
            <a:ext cx="5943600" cy="475488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0" y="1938528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agents/graph.py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9385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Monta o grafo e define as transições entre nós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2459736"/>
            <a:ext cx="5943600" cy="475488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0" y="2478024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agents/router.py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47802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Roteamento condicional e execução de 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2999232"/>
            <a:ext cx="5943600" cy="475488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0" y="301752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agents/common.py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017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Fabrica o LLM e injeta contexto dinâmico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3538728"/>
            <a:ext cx="5943600" cy="475488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0" y="3557016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agents/prompts.py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55701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Prompts de cada agente em arquivo único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4078224"/>
            <a:ext cx="5943600" cy="475488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0" y="4096511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tools/ferramentas.py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096511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6 ferramentas @tool (validar_cpf, autenticar, crédito, score, câmbio, encerrar)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4617720"/>
            <a:ext cx="5943600" cy="475488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0" y="4636007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utils/state.py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636007"/>
            <a:ext cx="3611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 smtClean="0">
                <a:solidFill>
                  <a:srgbClr val="B0C4DE"/>
                </a:solidFill>
              </a:rPr>
              <a:t>Define </a:t>
            </a:r>
            <a:r>
              <a:rPr lang="pt-BR" sz="900" dirty="0">
                <a:solidFill>
                  <a:srgbClr val="B0C4DE"/>
                </a:solidFill>
              </a:rPr>
              <a:t>o estado compartilhado entre todos os agentes do sistema (</a:t>
            </a:r>
            <a:r>
              <a:rPr lang="pt-BR" sz="900" dirty="0" smtClean="0">
                <a:solidFill>
                  <a:srgbClr val="B0C4DE"/>
                </a:solidFill>
              </a:rPr>
              <a:t>é </a:t>
            </a:r>
            <a:r>
              <a:rPr lang="pt-BR" sz="900" dirty="0">
                <a:solidFill>
                  <a:srgbClr val="B0C4DE"/>
                </a:solidFill>
              </a:rPr>
              <a:t>a "memória central" que persiste durante toda a sessão de </a:t>
            </a:r>
            <a:r>
              <a:rPr lang="pt-BR" sz="900" dirty="0" smtClean="0">
                <a:solidFill>
                  <a:srgbClr val="B0C4DE"/>
                </a:solidFill>
              </a:rPr>
              <a:t>atendimento)</a:t>
            </a:r>
            <a:endParaRPr sz="900" b="0" i="0" dirty="0">
              <a:solidFill>
                <a:srgbClr val="B0C4DE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760720" y="5157216"/>
            <a:ext cx="5943600" cy="475488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0" y="5175504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utils/session.py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517550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Sessão: detecta intenção e gerencia ciclo de vida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5696712"/>
            <a:ext cx="5943600" cy="475488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0" y="57150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app.py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5715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Interface Streamlit (tema bancário escuro)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Os 4 Agentes Especializados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47120" cy="27432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669280" cy="237744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5720" cy="2377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🔐  Triagem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5394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C4DE"/>
                </a:solidFill>
              </a:rPr>
              <a:t>▸  Porta de entrada obrigatória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C4DE"/>
                </a:solidFill>
              </a:rPr>
              <a:t>▸  Valida CPF matematicamente (algoritmo oficial)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C4DE"/>
                </a:solidFill>
              </a:rPr>
              <a:t>▸  Autentica: CPF + data de nascimento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C4DE"/>
                </a:solidFill>
              </a:rPr>
              <a:t>▸  Máximo 3 tentativas de CPF inválido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C4DE"/>
                </a:solidFill>
              </a:rPr>
              <a:t>▸  Máximo 3 tentativas de autenticação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C4DE"/>
                </a:solidFill>
              </a:rPr>
              <a:t>▸  Roteia para o agente correto após autenticação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1928" y="1508760"/>
            <a:ext cx="5669280" cy="237744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81928" y="1508760"/>
            <a:ext cx="45720" cy="237744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6002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7B6"/>
                </a:solidFill>
              </a:rPr>
              <a:t>💳  Crédito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11680"/>
            <a:ext cx="5394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C4DE"/>
                </a:solidFill>
              </a:rPr>
              <a:t>▸  Consulta o limite atual do cliente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C4DE"/>
                </a:solidFill>
              </a:rPr>
              <a:t>▸  Solicita aumento com decisão automática por score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C4DE"/>
                </a:solidFill>
              </a:rPr>
              <a:t>▸  Score insuficiente → oferece entrevista financeira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C4DE"/>
                </a:solidFill>
              </a:rPr>
              <a:t>▸  Registra histórico em CSV com timestamp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C4DE"/>
                </a:solidFill>
              </a:rPr>
              <a:t>▸  Lógica de aprovação 100% em Python (não LLM)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23360"/>
            <a:ext cx="5669280" cy="237744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45720" cy="23774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41148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8A"/>
                </a:solidFill>
              </a:rPr>
              <a:t>📋  Entrevista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26280"/>
            <a:ext cx="5394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C4DE"/>
                </a:solidFill>
              </a:rPr>
              <a:t>▸  Entrevista conversacional (1 pergunta por vez)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C4DE"/>
                </a:solidFill>
              </a:rPr>
              <a:t>▸  Coleta: renda, emprego, despesas, dependentes, dívidas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C4DE"/>
                </a:solidFill>
              </a:rPr>
              <a:t>▸  Fórmula proprietária de score (0 a 1000)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C4DE"/>
                </a:solidFill>
              </a:rPr>
              <a:t>▸  Atualiza score no CSV automaticamente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C4DE"/>
                </a:solidFill>
              </a:rPr>
              <a:t>▸  Redireciona ao Agente de Crédito ao concluir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81928" y="4023360"/>
            <a:ext cx="5669280" cy="237744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81928" y="4023360"/>
            <a:ext cx="45720" cy="2377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41148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00"/>
                </a:solidFill>
              </a:rPr>
              <a:t>💱  Câmbio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526280"/>
            <a:ext cx="5394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C4DE"/>
                </a:solidFill>
              </a:rPr>
              <a:t>▸  Detecta menção de qualquer moeda na conversa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C4DE"/>
                </a:solidFill>
              </a:rPr>
              <a:t>▸  Consulta AwesomeAPI em tempo real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C4DE"/>
                </a:solidFill>
              </a:rPr>
              <a:t>▸  Exibe compra, venda e variação percentual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C4DE"/>
                </a:solidFill>
              </a:rPr>
              <a:t>▸  Nunca inventa ou estima valores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C4DE"/>
                </a:solidFill>
              </a:rPr>
              <a:t>▸  Disponível de qualquer agente após autenticação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Stack Tecnológica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47120" cy="27432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3749039" cy="214884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749039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67335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LangGraph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391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Framework de Agentes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</a:rPr>
              <a:t>Grafo de estados com controle explícito de fluxo.
Roteamento condicional, nós independentes por agente.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08760"/>
            <a:ext cx="3749039" cy="214884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508760"/>
            <a:ext cx="3749039" cy="54864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67335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Gemini 2.5 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0391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77B6"/>
                </a:solidFill>
              </a:rPr>
              <a:t>LLM (Google AI Studio)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331720"/>
            <a:ext cx="34747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050" dirty="0">
                <a:solidFill>
                  <a:srgbClr val="B0C4DE"/>
                </a:solidFill>
              </a:rPr>
              <a:t>S</a:t>
            </a:r>
            <a:r>
              <a:rPr sz="1050" b="0" i="0" dirty="0" err="1" smtClean="0">
                <a:solidFill>
                  <a:srgbClr val="B0C4DE"/>
                </a:solidFill>
              </a:rPr>
              <a:t>uporta</a:t>
            </a:r>
            <a:r>
              <a:rPr sz="1050" b="0" i="0" dirty="0" smtClean="0">
                <a:solidFill>
                  <a:srgbClr val="B0C4DE"/>
                </a:solidFill>
              </a:rPr>
              <a:t> </a:t>
            </a:r>
            <a:r>
              <a:rPr sz="1050" b="0" i="0" dirty="0">
                <a:solidFill>
                  <a:srgbClr val="B0C4DE"/>
                </a:solidFill>
              </a:rPr>
              <a:t>tool calling, thinking mode </a:t>
            </a:r>
            <a:r>
              <a:rPr sz="1050" b="0" i="0" dirty="0" err="1">
                <a:solidFill>
                  <a:srgbClr val="B0C4DE"/>
                </a:solidFill>
              </a:rPr>
              <a:t>desabilitável</a:t>
            </a:r>
            <a:r>
              <a:rPr sz="1050" b="0" i="0" dirty="0">
                <a:solidFill>
                  <a:srgbClr val="B0C4DE"/>
                </a:solidFill>
              </a:rPr>
              <a:t>.
</a:t>
            </a:r>
            <a:r>
              <a:rPr sz="1050" b="0" i="0" dirty="0" err="1">
                <a:solidFill>
                  <a:srgbClr val="B0C4DE"/>
                </a:solidFill>
              </a:rPr>
              <a:t>Temperatura</a:t>
            </a:r>
            <a:r>
              <a:rPr sz="1050" b="0" i="0" dirty="0">
                <a:solidFill>
                  <a:srgbClr val="B0C4DE"/>
                </a:solidFill>
              </a:rPr>
              <a:t> 1.0, </a:t>
            </a:r>
            <a:r>
              <a:rPr sz="1050" b="0" i="0" dirty="0" err="1">
                <a:solidFill>
                  <a:srgbClr val="B0C4DE"/>
                </a:solidFill>
              </a:rPr>
              <a:t>thinking_budget</a:t>
            </a:r>
            <a:r>
              <a:rPr sz="1050" b="0" i="0" dirty="0">
                <a:solidFill>
                  <a:srgbClr val="B0C4DE"/>
                </a:solidFill>
              </a:rPr>
              <a:t>=0.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508760"/>
            <a:ext cx="3749039" cy="214884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508760"/>
            <a:ext cx="3749039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167335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LangChain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0391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D48A"/>
                </a:solidFill>
              </a:rPr>
              <a:t>Abstração de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3317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</a:rPr>
              <a:t>@tool decorator para cada ferramenta bancária.
ToolNode para execução no grafo.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94760"/>
            <a:ext cx="3749039" cy="214884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794760"/>
            <a:ext cx="3749039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9593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Streamlit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3251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8C00"/>
                </a:solidFill>
              </a:rPr>
              <a:t>Interface Web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617720"/>
            <a:ext cx="34747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err="1">
                <a:solidFill>
                  <a:srgbClr val="B0C4DE"/>
                </a:solidFill>
              </a:rPr>
              <a:t>Tema</a:t>
            </a:r>
            <a:r>
              <a:rPr sz="1050" b="0" i="0" dirty="0">
                <a:solidFill>
                  <a:srgbClr val="B0C4DE"/>
                </a:solidFill>
              </a:rPr>
              <a:t> </a:t>
            </a:r>
            <a:r>
              <a:rPr sz="1050" b="0" i="0" dirty="0" err="1">
                <a:solidFill>
                  <a:srgbClr val="B0C4DE"/>
                </a:solidFill>
              </a:rPr>
              <a:t>bancário</a:t>
            </a:r>
            <a:r>
              <a:rPr sz="1050" b="0" i="0" dirty="0">
                <a:solidFill>
                  <a:srgbClr val="B0C4DE"/>
                </a:solidFill>
              </a:rPr>
              <a:t> </a:t>
            </a:r>
            <a:r>
              <a:rPr sz="1050" b="0" i="0" dirty="0" err="1">
                <a:solidFill>
                  <a:srgbClr val="B0C4DE"/>
                </a:solidFill>
              </a:rPr>
              <a:t>escuro</a:t>
            </a:r>
            <a:r>
              <a:rPr sz="1050" b="0" i="0" dirty="0">
                <a:solidFill>
                  <a:srgbClr val="B0C4DE"/>
                </a:solidFill>
              </a:rPr>
              <a:t> </a:t>
            </a:r>
            <a:r>
              <a:rPr sz="1050" b="0" i="0" dirty="0" err="1">
                <a:solidFill>
                  <a:srgbClr val="B0C4DE"/>
                </a:solidFill>
              </a:rPr>
              <a:t>customizado</a:t>
            </a:r>
            <a:r>
              <a:rPr sz="1050" b="0" i="0" dirty="0">
                <a:solidFill>
                  <a:srgbClr val="B0C4DE"/>
                </a:solidFill>
              </a:rPr>
              <a:t> com CSS</a:t>
            </a:r>
            <a:r>
              <a:rPr sz="1050" b="0" i="0" dirty="0" smtClean="0">
                <a:solidFill>
                  <a:srgbClr val="B0C4DE"/>
                </a:solidFill>
              </a:rPr>
              <a:t>.</a:t>
            </a:r>
            <a:endParaRPr sz="1050" b="0" i="0" dirty="0">
              <a:solidFill>
                <a:srgbClr val="B0C4D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297680" y="3794760"/>
            <a:ext cx="3749039" cy="214884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97680" y="3794760"/>
            <a:ext cx="3749039" cy="54864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34840" y="39593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AwesomeAPI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3251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77DFF"/>
                </a:solidFill>
              </a:rPr>
              <a:t>API de Câmbio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6177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E"/>
                </a:solidFill>
              </a:rPr>
              <a:t>Gratuita, sem autenticação, cobertura ampla de moedas.
Retorno em tempo real com compra, venda e variação.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794760"/>
            <a:ext cx="3749039" cy="214884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29600" y="3794760"/>
            <a:ext cx="3749039" cy="54864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66760" y="39593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CSV / Python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3251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Persistência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617720"/>
            <a:ext cx="34747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err="1" smtClean="0">
                <a:solidFill>
                  <a:srgbClr val="B0C4DE"/>
                </a:solidFill>
              </a:rPr>
              <a:t>Leitura</a:t>
            </a:r>
            <a:r>
              <a:rPr sz="1050" b="0" i="0" dirty="0" smtClean="0">
                <a:solidFill>
                  <a:srgbClr val="B0C4DE"/>
                </a:solidFill>
              </a:rPr>
              <a:t>/</a:t>
            </a:r>
            <a:r>
              <a:rPr sz="1050" b="0" i="0" dirty="0" err="1" smtClean="0">
                <a:solidFill>
                  <a:srgbClr val="B0C4DE"/>
                </a:solidFill>
              </a:rPr>
              <a:t>gravação</a:t>
            </a:r>
            <a:r>
              <a:rPr sz="1050" b="0" i="0" dirty="0" smtClean="0">
                <a:solidFill>
                  <a:srgbClr val="B0C4DE"/>
                </a:solidFill>
              </a:rPr>
              <a:t> </a:t>
            </a:r>
            <a:r>
              <a:rPr sz="1050" b="0" i="0" dirty="0">
                <a:solidFill>
                  <a:srgbClr val="B0C4DE"/>
                </a:solidFill>
              </a:rPr>
              <a:t>com </a:t>
            </a:r>
            <a:r>
              <a:rPr sz="1050" b="0" i="0" dirty="0" err="1">
                <a:solidFill>
                  <a:srgbClr val="B0C4DE"/>
                </a:solidFill>
              </a:rPr>
              <a:t>csv.DictReader</a:t>
            </a:r>
            <a:r>
              <a:rPr sz="1050" b="0" i="0" dirty="0">
                <a:solidFill>
                  <a:srgbClr val="B0C4DE"/>
                </a:solidFill>
              </a:rPr>
              <a:t>.
</a:t>
            </a:r>
            <a:r>
              <a:rPr sz="1050" b="0" i="0" dirty="0" err="1">
                <a:solidFill>
                  <a:srgbClr val="B0C4DE"/>
                </a:solidFill>
              </a:rPr>
              <a:t>Clientes</a:t>
            </a:r>
            <a:r>
              <a:rPr sz="1050" b="0" i="0" dirty="0">
                <a:solidFill>
                  <a:srgbClr val="B0C4DE"/>
                </a:solidFill>
              </a:rPr>
              <a:t>, score-</a:t>
            </a:r>
            <a:r>
              <a:rPr sz="1050" b="0" i="0" dirty="0" err="1">
                <a:solidFill>
                  <a:srgbClr val="B0C4DE"/>
                </a:solidFill>
              </a:rPr>
              <a:t>limite</a:t>
            </a:r>
            <a:r>
              <a:rPr sz="1050" b="0" i="0" dirty="0">
                <a:solidFill>
                  <a:srgbClr val="B0C4DE"/>
                </a:solidFill>
              </a:rPr>
              <a:t> e </a:t>
            </a:r>
            <a:r>
              <a:rPr sz="1050" b="0" i="0" dirty="0" err="1">
                <a:solidFill>
                  <a:srgbClr val="B0C4DE"/>
                </a:solidFill>
              </a:rPr>
              <a:t>histórico</a:t>
            </a:r>
            <a:r>
              <a:rPr sz="1050" b="0" i="0" dirty="0">
                <a:solidFill>
                  <a:srgbClr val="B0C4DE"/>
                </a:solidFill>
              </a:rPr>
              <a:t> de </a:t>
            </a:r>
            <a:r>
              <a:rPr sz="1050" b="0" i="0" dirty="0" err="1">
                <a:solidFill>
                  <a:srgbClr val="B0C4DE"/>
                </a:solidFill>
              </a:rPr>
              <a:t>solicitações</a:t>
            </a:r>
            <a:r>
              <a:rPr sz="1050" b="0" i="0" dirty="0">
                <a:solidFill>
                  <a:srgbClr val="B0C4DE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Decisões Técnicas &amp; Desafios Superados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47120" cy="27432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669280" cy="1627632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5720" cy="16276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6362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⚠  LLM recusava chamadas financeiras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92807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0C4DE"/>
                </a:solidFill>
              </a:rPr>
              <a:t>Gemini 2.5 Flash recusa tool calls em operações financeiras por treinamento de segurança.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5000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8A"/>
                </a:solidFill>
              </a:rPr>
              <a:t>✔  Python executa a ferramenta diretamente; LLM formata apenas a resposta ao cliente.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1928" y="1508760"/>
            <a:ext cx="5669280" cy="1627632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81928" y="1508760"/>
            <a:ext cx="45720" cy="16276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56362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⚠  Roteamento dinâmico no grafo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892807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0C4DE"/>
                </a:solidFill>
              </a:rPr>
              <a:t>LangGraph sempre reiniciava no nó de triagem, tornando os demais agentes inacessíveis.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5000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8A"/>
                </a:solidFill>
              </a:rPr>
              <a:t>✔  Substituir set_entry_point por add_conditional_edges(START, router_principal) com campo agente_atual.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27832"/>
            <a:ext cx="5669280" cy="1627632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227832"/>
            <a:ext cx="45720" cy="16276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28269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⚠  Falso positivo na intenção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61187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0C4DE"/>
                </a:solidFill>
              </a:rPr>
              <a:t>A frase "entrevista de crédito" ativava keyword 'crédito' antes de 'entrevista'.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69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8A"/>
                </a:solidFill>
              </a:rPr>
              <a:t>✔  Quando no agente de crédito, checar keywords de entrevista diretamente, sem o detector geral.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81928" y="3227832"/>
            <a:ext cx="5669280" cy="1627632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81928" y="3227832"/>
            <a:ext cx="45720" cy="16276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328269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⚠  $ interpretado como LaTeX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61187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0C4DE"/>
                </a:solidFill>
              </a:rPr>
              <a:t>Streamlit interpreta $valor$ como fórmula matemática. Valores em R$ quebravam a renderização.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069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8A"/>
                </a:solidFill>
              </a:rPr>
              <a:t>✔  Escapar o símbolo antes de injetar no HTML: replace('$', '&amp;#36;').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946904"/>
            <a:ext cx="5669280" cy="1627632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4946904"/>
            <a:ext cx="45720" cy="16276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50017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⚠  Validação real de CPF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33095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0C4DE"/>
                </a:solidFill>
              </a:rPr>
              <a:t>O sistema aceitava qualquer número com 11 dígitos, inclusive sequências inválidas.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788152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8A"/>
                </a:solidFill>
              </a:rPr>
              <a:t>✔  Implementação do algoritmo oficial dos dígitos verificadores + rejeição de sequências repetidas.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81928" y="4946904"/>
            <a:ext cx="5669280" cy="1627632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81928" y="4946904"/>
            <a:ext cx="45720" cy="16276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19088" y="50017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⚠  Aceitação de entrevista ambígua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533095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0C4DE"/>
                </a:solidFill>
              </a:rPr>
              <a:t>Respostas afirmativas livres ("pode ser", "tenho interesse") não eram reconhecidas.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5788152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8A"/>
                </a:solidFill>
              </a:rPr>
              <a:t>✔  Campo entrevista_ofertada no estado + botões Sim/Não na UI para eliminar ambiguidade.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Fluxo de Atendimento — Autenticação &amp; Crédito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47120" cy="27432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1554480" cy="173736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15544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97280" y="1508760"/>
            <a:ext cx="36576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4813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828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938528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Saudação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304288"/>
            <a:ext cx="14081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Assistente
cumprimenta
profissionalmente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4688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1828800"/>
            <a:ext cx="1554480" cy="173736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331720" y="1828800"/>
            <a:ext cx="15544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26079" y="1508760"/>
            <a:ext cx="36576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79" y="14813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828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38528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CPF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04872" y="2304288"/>
            <a:ext cx="14081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Solicita CPF
e chama
validar_cpf()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4688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1828800"/>
            <a:ext cx="1554480" cy="173736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60520" y="1828800"/>
            <a:ext cx="155448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54879" y="1508760"/>
            <a:ext cx="365760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79" y="14813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828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33672" y="1938528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Validação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33672" y="2304288"/>
            <a:ext cx="14081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CPF inválido?
Informa e
pede novamente
(máx. 3x)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24688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1828800"/>
            <a:ext cx="1554480" cy="173736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89320" y="1828800"/>
            <a:ext cx="15544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83679" y="1508760"/>
            <a:ext cx="36576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79" y="14813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828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62472" y="1938528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Nascimento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62472" y="2304288"/>
            <a:ext cx="14081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CPF válido?
Solicita data
DD/MM/AAAA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24688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0" y="1828800"/>
            <a:ext cx="1554480" cy="173736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818120" y="1828800"/>
            <a:ext cx="1554480" cy="457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412480" y="1508760"/>
            <a:ext cx="365760" cy="36576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0" y="14813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828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1272" y="1938528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Autenticação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91272" y="2304288"/>
            <a:ext cx="14081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Chama
autenticar_cliente()
contra CSV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24688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1828800"/>
            <a:ext cx="1554480" cy="173736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646920" y="1828800"/>
            <a:ext cx="1554480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241280" y="1508760"/>
            <a:ext cx="365760" cy="3657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41280" y="14813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828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20072" y="1938528"/>
            <a:ext cx="1408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Serviço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20072" y="2304288"/>
            <a:ext cx="14081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Autenticado!
Pergunta como
pode ajudar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3931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00B4D8"/>
                </a:solidFill>
              </a:rPr>
              <a:t>Fluxo de Crédito (após autenticação):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297680"/>
            <a:ext cx="2103120" cy="86868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02920" y="4297680"/>
            <a:ext cx="2103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4343400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Consulta Limite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4636008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</a:rPr>
              <a:t>Chama consultar_limite_credito(cpf)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06039" y="4526280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97480" y="4297680"/>
            <a:ext cx="2103120" cy="86868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697480" y="4297680"/>
            <a:ext cx="2103120" cy="365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788920" y="4343400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7B6"/>
                </a:solidFill>
              </a:rPr>
              <a:t>Solicita Aumento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88920" y="4636008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</a:rPr>
              <a:t>Cliente informa valor desejado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00600" y="4526280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92040" y="4297680"/>
            <a:ext cx="2103120" cy="86868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892040" y="4297680"/>
            <a:ext cx="210312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983479" y="4343400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</a:rPr>
              <a:t>Decisão Auto.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83479" y="4636008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</a:rPr>
              <a:t>Python verifica score × tabela CSV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95159" y="4526280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86599" y="4297680"/>
            <a:ext cx="2103120" cy="86868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086599" y="4297680"/>
            <a:ext cx="2103120" cy="36576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178039" y="4343400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8A"/>
                </a:solidFill>
              </a:rPr>
              <a:t>Aprovado 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78039" y="4636008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</a:rPr>
              <a:t>Novo limite atualizado no CSV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89719" y="4526280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81160" y="4297680"/>
            <a:ext cx="2103120" cy="868680"/>
          </a:xfrm>
          <a:prstGeom prst="rect">
            <a:avLst/>
          </a:prstGeom>
          <a:solidFill>
            <a:srgbClr val="11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281160" y="4297680"/>
            <a:ext cx="2103120" cy="36576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372600" y="4343400"/>
            <a:ext cx="1920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555"/>
                </a:solidFill>
              </a:rPr>
              <a:t>Rejeitado 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72600" y="4636008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E"/>
                </a:solidFill>
              </a:rPr>
              <a:t>Oferece Entrevista de Crédito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Funcionalidades Entregues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47120" cy="27432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✅  Validação matemática de CPF (dígitos verificadores)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✅  Autenticação CPF + data de nascimento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✅  Controle de tentativas: 3 CPFs inválidos e 3 falhas de auth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✅  Encerramento automático por excesso de tentativas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✅  Consulta de limite de crédito em tempo real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✅  Aprovação/rejeição automática por score (Python)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✅  Registro histórico de solicitações com timestamp ISO 8601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✅  Entrevista financeira conversacional (1 pergunta por vez)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✅  Fórmula própria de score com 5 variáveis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✅  Atualização automática de score no CSV após entrevista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✅  Redirecionamento automático crédito → entrevista → crédito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✅  Botões Sim/Não na UI para aceite da entrevista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✅  Cotação de câmbio em tempo real (USD, EUR, GBP, ARS…)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✅  Transição transparente entre agentes (1 assistente ao cliente)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✅  System prompt dinâmico com contexto do cliente autenticado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✅  Interface Streamlit com design bancário moderno (tema escuro)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✅  Sidebar com score, limite e agente ativo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FFFFFF"/>
                </a:solidFill>
              </a:rPr>
              <a:t>✅  Logging centralizado com alertas Slack / e-mail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508760"/>
            <a:ext cx="36576" cy="50292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🏦  BANCO ÁGIL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Atendimento bancário inteligente, disponível 24h, escalável e seguro.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360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Obrigado!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Rodrigo Simões Costa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C4DE"/>
                </a:solidFill>
              </a:rPr>
              <a:t>rodrigo.costa-ext@dex.co  ·  Desafio T4Humans  ·  Maio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5349240"/>
            <a:ext cx="267919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0C4DE"/>
                </a:solidFill>
              </a:rPr>
              <a:t>github.com/rodrigosimoescosta77/desafio-t4humans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1070</Words>
  <Application>Microsoft Office PowerPoint</Application>
  <PresentationFormat>Personalizar</PresentationFormat>
  <Paragraphs>189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renata pelinca</cp:lastModifiedBy>
  <cp:revision>4</cp:revision>
  <dcterms:created xsi:type="dcterms:W3CDTF">2013-01-27T09:14:16Z</dcterms:created>
  <dcterms:modified xsi:type="dcterms:W3CDTF">2026-05-17T10:09:05Z</dcterms:modified>
  <cp:category/>
</cp:coreProperties>
</file>